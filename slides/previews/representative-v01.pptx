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v10 S1. 시작: 완성된 업무 한 건</a:t>
            </a:r>
          </a:p>
          <a:p>
            <a:r>
              <a:t>시간: 0분부터 2분까지, 2분</a:t>
            </a:r>
          </a:p>
          <a:p>
            <a:r>
              <a:t>출처: docs/plans/slide-content-plan-v10.md S1, docs/production/slide-production-brief-v01.md S1</a:t>
            </a:r>
          </a:p>
          <a:p/>
          <a:p>
            <a:r>
              <a:t>[v10 원문]</a:t>
            </a:r>
          </a:p>
          <a:p>
            <a:r>
              <a:t>S1. 시작: 완성된 업무 한 건 (0분부터 2분까지, 2분)</a:t>
            </a:r>
          </a:p>
          <a:p/>
          <a:p>
            <a:r>
              <a:t>장면과 질문 (예시 초안): AI교양 글 한 편의 작업이 끝났다. 사용자가 원문을 보냈고, 최종본이 확정됐고, 삽화를 만들어 보관했고, 비공개 초안을 만든 뒤 다시 열어 확인했다. 질문: 이 흐름이 단계를 건너뛰지 않게 하는 것은 누구일까?</a:t>
            </a:r>
          </a:p>
          <a:p/>
          <a:p>
            <a:r>
              <a:t>이 장면은 개념 설명용이다. 실제 화면, 계정 정보, 공개 발행은 보여 주지 않는다. 참가자는 실습하지 않는다. 듣고 질문만 한다. 낯선 라벨 몇 개는 나중에 설명한다.</a:t>
            </a:r>
          </a:p>
          <a:p/>
          <a:p>
            <a:r>
              <a:t>학습 목표는 다음과 같다.</a:t>
            </a:r>
          </a:p>
          <a:p/>
          <a:p>
            <a:r>
              <a:t>1. 모델, 에이전트, 런타임, 하네스, 오케스트레이션, 도구, 스킬, 플러그인, 커넥터, MCP, 프롬프트, 컨텍스트, 토큰, 컨텍스트 창, 메모리, 세션, 워커, 서브에이전트, 워크플로우, 자동화, 완료 보고, 검증, 로컬 실행, 클라우드 실행, 리모트 컨트롤을 각각 설명할 수 있다.</a:t>
            </a:r>
          </a:p>
          <a:p>
            <a:r>
              <a:t>2. 같은 모델이라도 컨텍스트, 도구, 검증 기준이 다르면 결과의 재현성과 점검 가능성이 달라질 수 있음을 설명할 수 있다. 결과가 반드시 좋아진다고 말하지 않는다.</a:t>
            </a:r>
          </a:p>
          <a:p>
            <a:r>
              <a:t>3. 완료 보고와 검증 증거를 구분하고, 결정적으로 확인할 수 있는 검증 항목을 만들 수 있다.</a:t>
            </a:r>
          </a:p>
          <a:p>
            <a:r>
              <a:t>4. 로컬 실행, 클라우드 실행, 리모트 컨트롤을 서로 다른 축으로 설명하고, 구성 요소별로 위치를 말할 수 있다.</a:t>
            </a:r>
          </a:p>
          <a:p>
            <a:r>
              <a:t>5. 업무용 하네스의 구성 요소, 즉 명세, 루브릭, 기록, 절차, 사람의 교정과 상황별 페르소나 선택이 어떻게 맞물리는지 실제 사례로 설명할 수 있다.</a:t>
            </a:r>
          </a:p>
          <a:p/>
          <a:p>
            <a:r>
              <a:t>시간: 0분부터 2분까지, 2분.</a:t>
            </a:r>
          </a:p>
          <a:p/>
          <a:p>
            <a:r>
              <a:t>[제작 브리프]</a:t>
            </a:r>
          </a:p>
          <a:p>
            <a:r>
              <a:t>S1. 시작: 완성된 업무 한 건 (0분부터 2분까지, 2분)</a:t>
            </a:r>
          </a:p>
          <a:p/>
          <a:p>
            <a:r>
              <a:t>화면 핵심 문장: 완성된 AI교양 한 건은 어떤 단계를 거쳤나?</a:t>
            </a:r>
          </a:p>
          <a:p/>
          <a:p>
            <a:r>
              <a:t>레이아웃과 도식: 상단 장면 한 줄. 가운데 가로 다섯 칸(원문, 수정, 최종 확정 굵은 게이트, 삽화와 보관, 비공개 초안과 재열람). 오른쪽 끝 회색 점선 '공개 발행: 범위 밖'.</a:t>
            </a:r>
          </a:p>
          <a:p/>
          <a:p>
            <a:r>
              <a:t>공개 순서와 진행: 장면 20초, 질문 5초에서 10초. 답은 S34에서 돌아와 공개한다. 목표 다섯 개는 말로 전한다.</a:t>
            </a:r>
          </a:p>
          <a:p/>
          <a:p>
            <a:r>
              <a:t>발표자 노트: v10 S1 장면과 학습 목표 다섯 개. 참가자는 실습하지 않고 듣고 질문만 한다. 실제 화면, 계정, 공개 발행은 보여 주지 않는다.</a:t>
            </a:r>
          </a:p>
          <a:p/>
          <a:p>
            <a:r>
              <a:t>필요 자료와 준비 상태: v10 S1 텍스트 준비됨. 다섯 칸 도식은 AS-10으로 미제작.</a:t>
            </a:r>
          </a:p>
          <a:p/>
          <a:p>
            <a:r>
              <a:t>제작 검수 포인트: 공개 발행이나 자동 게시가 암시되지 않는가. 실제 화면 캡처가 없는가.</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v10 S5. 런타임</a:t>
            </a:r>
          </a:p>
          <a:p>
            <a:r>
              <a:t>시간: 11분부터 14분까지, 3분</a:t>
            </a:r>
          </a:p>
          <a:p>
            <a:r>
              <a:t>출처: docs/plans/slide-content-plan-v10.md S5, docs/production/slide-production-brief-v01.md S5</a:t>
            </a:r>
          </a:p>
          <a:p/>
          <a:p>
            <a:r>
              <a:t>[v10 원문]</a:t>
            </a:r>
          </a:p>
          <a:p>
            <a:r>
              <a:t>S5. 런타임 (11분부터 14분까지, 3분)</a:t>
            </a:r>
          </a:p>
          <a:p/>
          <a:p>
            <a:r>
              <a:t>장면과 질문 (예시 초안): '지난주 회의 메모 파일 열어 줘'라는 요청을 보낸다. 실제로 파일을 여는 쪽은 누구일까? 질문: AI 모델이 파일을 직접 열까?</a:t>
            </a:r>
          </a:p>
          <a:p/>
          <a:p>
            <a:r>
              <a:t>한 문장 정의: 런타임은 모델의 도구 호출 요청을 받아 권한을 확인한 뒤 도구를 실행하고, 결과를 다시 모델 입력으로 돌려주며 다음 호출을 이어 주는 실행 계층이다.</a:t>
            </a:r>
          </a:p>
          <a:p/>
          <a:p>
            <a:r>
              <a:t>상세 설명:</a:t>
            </a:r>
          </a:p>
          <a:p>
            <a:r>
              <a:t>- 모델은 요청만 만든다. 런타임이 요청이 등록된 도구인지, 실행 권한이 있는지 확인한 뒤 실행을 연결한다.</a:t>
            </a:r>
          </a:p>
          <a:p>
            <a:r>
              <a:t>- 실행 결과, 즉 파일 내용, 오류 메시지, 종료 코드를 정리해 다음 모델 호출의 입력에 넣는다. 이 되돌림이 루프를 가능하게 한다.</a:t>
            </a:r>
          </a:p>
          <a:p>
            <a:r>
              <a:t>- 도구가 내 기기에서 도는지 외부 서버에서 도는지는 런타임 구성에 따라 달라진다(S31, S32).</a:t>
            </a:r>
          </a:p>
          <a:p>
            <a:r>
              <a:t>- 여기서 말하는 런타임은 Python이나 Node.js 같은 언어 실행 환경과 다르다. 런타임 전체를 하네스라고 부르지도 않는다(S6).</a:t>
            </a:r>
          </a:p>
          <a:p/>
          <a:p>
            <a:r>
              <a:t>장면에 다시 적용 (예시 초안): 입력: 파일 열기 요청. 모델 출력: read_file(path=meeting-memo) 요청 한 줄. 런타임이 권한을 확인해 파일을 열고 내용을 다음 입력에 넣는다. 권한이 없으면 오류가 돌아온다.</a:t>
            </a:r>
          </a:p>
          <a:p/>
          <a:p>
            <a:r>
              <a:t>강사용 보충 예시 (화면 생략): 모델이 read_file(path=tickets.csv)를 요청한다. 런타임이 등록된 파일 읽기 도구를 실제 권한 설정에 따라 실행해 결과를 모델 입력에 넣는다. 예시 폴더만 다루라는 문서 지시가 기술적 접근 차단을 자동으로 만드는 것은 아니다. 파일이 없었다면 "파일 없음" 오류가 돌아가고, 모델은 그 오류를 보고 다음 행동을 고른다.</a:t>
            </a:r>
          </a:p>
          <a:p/>
          <a:p>
            <a:r>
              <a:t>헷갈리는 지점: 모델은 판단과 생성을 맡고, 런타임은 실행을 연결한다. 하네스는 컨텍스트, 도구, 상태, 검증까지 포함하는 더 넓은 틀이다(S6). 명명 경계는 제품마다 다를 수 있다.</a:t>
            </a:r>
          </a:p>
          <a:p/>
          <a:p>
            <a:r>
              <a:t>화면 구성: 첫 화면은 장면과 질문만 보인다. 답을 공개한 뒤 정의와 적용을 보인다. 순서도. 모델 요청 → 런타임(권한 확인, 도구 실행) → 파일 읽기 도구 → 결과 → 런타임(결과 정리) → 모델 입력 → 모델 다음 판단. 모델과 런타임 상자는 테두리 색을 다르게 하고, "파일은 런타임 쪽에서만 열린다"는 주석을 단다.</a:t>
            </a:r>
          </a:p>
          <a:p/>
          <a:p>
            <a:r>
              <a:t>확인 질문과 모범 답안: 모델이 파일 읽기를 요청했는데 접근이 차단됐다. 답변 내용만 보면 되는가? 아니다. 권한 기록과 도구 오류 결과를 함께 봐야 한다. 답변이 그럴듯해도 실행 결과가 없을 수 있다.</a:t>
            </a:r>
          </a:p>
          <a:p/>
          <a:p>
            <a:r>
              <a:t>시간: 11분부터 14분까지, 3분. 장면 도입 20초에서 30초와 예측 질문 5초에서 10초를 포함한다.</a:t>
            </a:r>
          </a:p>
          <a:p/>
          <a:p>
            <a:r>
              <a:t>[제작 브리프]</a:t>
            </a:r>
          </a:p>
          <a:p>
            <a:r>
              <a:t>S5. 런타임 (11분부터 14분까지, 3분)</a:t>
            </a:r>
          </a:p>
          <a:p/>
          <a:p>
            <a:r>
              <a:t>화면 핵심 문장: 모델은 요청만 만들고, 런타임이 실행해 결과를 돌려준다.</a:t>
            </a:r>
          </a:p>
          <a:p/>
          <a:p>
            <a:r>
              <a:t>레이아웃과 도식: 상단 모델(read_file 요청 한 줄), 가운데 런타임 띠(권한 확인, 실행), 하단 파일. 결과 화살표가 위로 돌아온다.</a:t>
            </a:r>
          </a:p>
          <a:p/>
          <a:p>
            <a:r>
              <a:t>공개 순서와 진행: 장면 20초, 질문 'AI 모델이 파일을 직접 열까?' 5초에서 10초. 요청, 권한, 결과 순서로 짚는다.</a:t>
            </a:r>
          </a:p>
          <a:p/>
          <a:p>
            <a:r>
              <a:t>발표자 노트: v10 S5 정의와 네 문단. 파일 없음 오류는 가상이다. 언어 실행 환경과 구분하는 주석을 유지한다.</a:t>
            </a:r>
          </a:p>
          <a:p/>
          <a:p>
            <a:r>
              <a:t>필요 자료와 준비 상태: AS-03 과정 루프(띠 변형). 대표 검수 장.</a:t>
            </a:r>
          </a:p>
          <a:p/>
          <a:p>
            <a:r>
              <a:t>제작 검수 포인트: 런타임이 언어 실행 환경으로 읽히지 않는가. 모델이 파일을 여는 것처럼 보이지 않는가.</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v10 S11. OMH 사례: 모델을 바꾸지 않고 틀을 바꾼 이유</a:t>
            </a:r>
          </a:p>
          <a:p>
            <a:r>
              <a:t>시간: 31분부터 36분까지, 5분</a:t>
            </a:r>
          </a:p>
          <a:p>
            <a:r>
              <a:t>출처: docs/plans/slide-content-plan-v10.md S11, docs/production/slide-production-brief-v01.md S11</a:t>
            </a:r>
          </a:p>
          <a:p/>
          <a:p>
            <a:r>
              <a:t>[v10 원문]</a:t>
            </a:r>
          </a:p>
          <a:p>
            <a:r>
              <a:t>S11. OMH 사례: 모델을 바꾸지 않고 틀을 바꾼 이유 (31분부터 36분까지, 5분)</a:t>
            </a:r>
          </a:p>
          <a:p/>
          <a:p>
            <a:r>
              <a:t>장면과 질문 (예시 초안): 새 CSV 파일을 받았다. 열이 무엇인지, 빈 값이 얼마나 있는지 먼저 알아야 한다. 질문: 모델만 더 좋은 것으로 바꾸면 이 일이 해결될까?</a:t>
            </a:r>
          </a:p>
          <a:p/>
          <a:p>
            <a:r>
              <a:t>핵심 질문: 왜 모델만 바꾸지 않고 작업 틀을 바꾸는가?</a:t>
            </a:r>
          </a:p>
          <a:p/>
          <a:p>
            <a:r>
              <a:t>한 문장 정의 (사례): OMH는 기존 OpenCode와 OMO 기반 구성을 오프라인 로컬 환경에 맞게 재구성한 사례다. 설정된 모델 하나와 기존 역할 구성을 유지하면서, 과업에 필요한 도구와 스킬, 작업 절차와 검증을 보강했다. OpenCode는 실행 도구, OMO는 기존 역할과 작업 절차를 제공하는 확장이다.</a:t>
            </a:r>
          </a:p>
          <a:p/>
          <a:p>
            <a:r>
              <a:t>상세 설명 (세 칸): 실제 제약 → 보강한 도구와 작업 절차 → 확인 가능한 증거와 한계</a:t>
            </a:r>
          </a:p>
          <a:p/>
          <a:p>
            <a:r>
              <a:t>- 실제 제약: 설치는 로컬 패키지로만 하고, 로컬 파일만 다루며, 모델은 설정된 한 개다.</a:t>
            </a:r>
          </a:p>
          <a:p>
            <a:r>
              <a:t>- 바꾼 것: 데이터 구조를 행 값 없이 보는 기능, 두 파일을 키 기준으로 비교하는 기능(자동 병합 없음), 설치 없이 환경을 진단하는 기능, 민감 정보를 가린 오류 맥락 기능, 글자 수를 결정론적으로 세는 검증 기능을 더했다. 이 기능들의 세부는 발표자 메모에만 둔다.</a:t>
            </a:r>
          </a:p>
          <a:p>
            <a:r>
              <a:t>- 재사용한 것: 기존 역할 구성과 설정된 단일 모델을 재사용했다. 도구 실행에는 기존 허용 정책이 적용되며, 읽기 전용이라는 작업 지시만으로 기술적 접근 차단이 생기지는 않는다. 선택형 엄격 절차(omh-rigorous)는 pstack에서 버그 수정, 기능 구현, 근거 기반 조사 절차를 선별해 적응시킨 것이다. 코드 리뷰 절차는 조사 절차를 검토 작업에 맞춰 구성했다. 검증 계획은 기존 OMO 스킬(verification-planning)과 겹치지 않게 조정했다. 원본 흐름 전체를 무조건 따르지 않는다.</a:t>
            </a:r>
          </a:p>
          <a:p>
            <a:r>
              <a:t>- 확인 가능한 증거와 한계: 설치와 점검 기록, 모의 환경에서의 테스트 결과가 있다. 이 증거는 기능이 연결되었다는 뜻이지 모델 품질을 보장하지 않는다. 실제 사내 모델 품질 비교는 실행하지 않았다.</a:t>
            </a:r>
          </a:p>
          <a:p/>
          <a:p>
            <a:r>
              <a:t>구체 예시: 장면은 세 단계다. (1) 새 CSV를 받는다. 데이터 구조 점검으로 열, 타입, 빈 값 수, 검사 범위를 보고 행 값은 뺀다. (2) 변경한다. 빈 값 처리 규칙을 적용해 새 파일을 만든다(가상 규칙). (3) 전후를 비교한다. before.csv와 after.csv를 id 기준으로 비교해 추가, 삭제, 변경 행 수를 본다. 입력은 두 파일이고, 출력은 구조 요약과 키 기준 차이 요약이다. 자동 병합은 없다.</a:t>
            </a:r>
          </a:p>
          <a:p/>
          <a:p>
            <a:r>
              <a:t>헷갈리는 지점:</a:t>
            </a:r>
          </a:p>
          <a:p>
            <a:r>
              <a:t>- 점검 스크립트가 통과했다고 모델이 더 좋아진 것은 아니다. 스크립트 점검은 기능 연결을 확인할 뿐이다.</a:t>
            </a:r>
          </a:p>
          <a:p>
            <a:r>
              <a:t>- 모의(mock) 또는 오프라인 검증은 실제 사내 모델의 품질을 증명하지 않는다.</a:t>
            </a:r>
          </a:p>
          <a:p>
            <a:r>
              <a:t>- 같은 모델의 새 문맥으로 다시 검토해도 독립된 다른 모델의 검토가 되지는 않는다.</a:t>
            </a:r>
          </a:p>
          <a:p/>
          <a:p>
            <a:r>
              <a:t>화면 구성: 세 칸 가로 배치. 실제 제약 → 바꾼 것 → 확인 가능한 증거와 한계. 가운데 칸에서 재사용한 기반과 우리가 더한 것을 두 색으로 나눈다. 아래 주석: 모델은 재학습하지 않았다.</a:t>
            </a:r>
          </a:p>
          <a:p/>
          <a:p>
            <a:r>
              <a:t>확인 질문과 모범 답안: 점검 스크립트가 모두 통과했다. 이제 모델이 좋은 답을 낸다고 말해도 될까? 아니다. 통과는 연결과 기능 확인이며, 실제 사내 모델 품질은 따로 측정해야 한다.</a:t>
            </a:r>
          </a:p>
          <a:p/>
          <a:p>
            <a:r>
              <a:t>전환 질문: 비교 결과가 '차이 없음'으로 나오면 무엇을 더 확인해야 할까?</a:t>
            </a:r>
          </a:p>
          <a:p/>
          <a:p>
            <a:r>
              <a:t>시간: 31분부터 36분까지, 5분.</a:t>
            </a:r>
          </a:p>
          <a:p/>
          <a:p>
            <a:r>
              <a:t>[제작 브리프]</a:t>
            </a:r>
          </a:p>
          <a:p>
            <a:r>
              <a:t>S11. OMH 사례: 모델을 바꾸지 않고 틀을 바꾼 이유 (31분부터 36분까지, 5분)</a:t>
            </a:r>
          </a:p>
          <a:p/>
          <a:p>
            <a:r>
              <a:t>화면 핵심 문장: 기존 모델과 역할은 유지하고, 업무 도구와 작업 절차를 보강했다.</a:t>
            </a:r>
          </a:p>
          <a:p/>
          <a:p>
            <a:r>
              <a:t>레이아웃과 도식: 세 칸 가로: 실제 제약, 바꾼 것(재사용 기반은 점선, 우리 변경은 실선), 확인 가능한 증거와 한계. 하단 CSV 흐름 세 칸(구조 점검, 변경, 키 기준 비교, 가상).</a:t>
            </a:r>
          </a:p>
          <a:p/>
          <a:p>
            <a:r>
              <a:t>공개 순서와 진행: 장면 20초, 질문 '모델만 바꾸면 해결될까?' 5초에서 10초. 세 칸을 짚고 CSV 흐름을 보인다. 전환 질문: 차이 없음이면 무엇을 더 확인할까?</a:t>
            </a:r>
          </a:p>
          <a:p/>
          <a:p>
            <a:r>
              <a:t>발표자 노트: v10 S11 세 칸. 도구 다섯 개는 나열하지 않고 기능 범주만 노트에 둔다. 재사용은 OpenCode와 OMO의 기존 역할 및 설정된 단일 모델이다. 선택형 절차 omh-rigorous는 pstack에서 선별해 적응시켰다. 작업 지시만으로 기술적 권한 차단이 생기지는 않는다. 검증 계획은 verification-planning과 겹치지 않게 조정했다. 증거는 설치와 점검 기록, 모의 테스트. 재학습 없음, 스크립트 통과는 모델 품질이 아님.</a:t>
            </a:r>
          </a:p>
          <a:p/>
          <a:p>
            <a:r>
              <a:t>필요 자료와 준비 상태: AS-08 세 축 도식, AS-09 CSV 흐름(가상). 원자료는 로컬 omh 문서이며 공개 저장소에 없다.</a:t>
            </a:r>
          </a:p>
          <a:p/>
          <a:p>
            <a:r>
              <a:t>제작 검수 포인트: 도구 목록이 화면에 없는가. 품질 향상이나 제공자 보장 문구가 없는가. 2026-10-19 패치 병합 주장이 없는가.</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v10 S17. 컨텍스트</a:t>
            </a:r>
          </a:p>
          <a:p>
            <a:r>
              <a:t>시간: 51분부터 54분까지, 3분</a:t>
            </a:r>
          </a:p>
          <a:p>
            <a:r>
              <a:t>출처: docs/plans/slide-content-plan-v10.md S17, docs/production/slide-production-brief-v01.md S17</a:t>
            </a:r>
          </a:p>
          <a:p/>
          <a:p>
            <a:r>
              <a:t>[v10 원문]</a:t>
            </a:r>
          </a:p>
          <a:p>
            <a:r>
              <a:t>S17. 컨텍스트 (51분부터 54분까지, 3분)</a:t>
            </a:r>
          </a:p>
          <a:p/>
          <a:p>
            <a:r>
              <a:t>장면과 질문 (예시 초안): 회의 요청에 안건과 참석자, 지난 결정 사항을 빼고 보낸다. 지난 회의록 파일 경로는 알려 준다. 질문: AI는 지난 회의의 결정을 떠올릴 수 있을까?</a:t>
            </a:r>
          </a:p>
          <a:p/>
          <a:p>
            <a:r>
              <a:t>한 문장 정의: 컨텍스트는 특정 호출에서 모델이 실제로 입력받은 모든 내용, 즉 지시, 파일 내용, 도구 결과, 이전 대화 중 포함된 부분이다.</a:t>
            </a:r>
          </a:p>
          <a:p/>
          <a:p>
            <a:r>
              <a:t>상세 설명:</a:t>
            </a:r>
          </a:p>
          <a:p>
            <a:r>
              <a:t>- 컨텍스트는 실제로 입력에 들어간 것만 포함한다. 디스크에 파일이 있다고 해서 컨텍스트에 있는 것은 아니다.</a:t>
            </a:r>
          </a:p>
          <a:p>
            <a:r>
              <a:t>- 파일을 읽었다는 도구 기록이 있어도 앞부분만 들어갔다면 모델은 전체를 본 것이 아니다.</a:t>
            </a:r>
          </a:p>
          <a:p>
            <a:r>
              <a:t>- 이전 대화와 도구 결과가 쌓이면 커지고, 크기에는 한계가 있다(S19).</a:t>
            </a:r>
          </a:p>
          <a:p/>
          <a:p>
            <a:r>
              <a:t>장면에 다시 적용 (예시 초안): 입력: 요청 한 줄과 회의록 파일 경로. 파일은 디스크에 있지만 내용이 입력에 들어가지 않았으므로 모델은 그 결정을 모른다. 파일 내용을 넣으면 모델이 그 결정을 근거로 답할 수 있다. 디스크에 있다고 읽힌 것은 아니다.</a:t>
            </a:r>
          </a:p>
          <a:p/>
          <a:p>
            <a:r>
              <a:t>강사용 보충 예시 (화면 생략): tickets.csv가 40행인데 도구가 앞 20행만 읽어 입력에 넣었다. 모델의 답은 20행 기준이다. 보고서에 "전체 40행 중"이라고 쓰면 근거가 빠진 주장이다. 체크리스트의 원본 행 수 항목이 이것을 잡는다.</a:t>
            </a:r>
          </a:p>
          <a:p/>
          <a:p>
            <a:r>
              <a:t>헷갈리는 지점: 컨텍스트와 메모리는 다르다. 메모리는 나중에 불러오도록 저장된 정보이고, 컨텍스트는 지금 입력에 들어 있는 정보다(S20).</a:t>
            </a:r>
          </a:p>
          <a:p/>
          <a:p>
            <a:r>
              <a:t>화면 구성: 첫 화면은 장면과 질문만 보인다. 답을 공개한 뒤 정의와 적용을 보인다. 입력 덩어리를 칸으로 나눈다. 지시, 규칙 파일 내용, tickets.csv 앞 20행, 도구 결과, 이전 대화. 칸 밖에 디스크에 있지만 입력되지 않은 파일 목록을 두고, 안과 밖을 색으로 구분한다.</a:t>
            </a:r>
          </a:p>
          <a:p/>
          <a:p>
            <a:r>
              <a:t>확인 질문과 모범 답안: 디스크에 checklist.md가 있다. 모델은 이 체크리스트를 알고 있는가? 파일을 읽어 입력에 넣기 전에는 모른다. 디스크에 있는 것과 컨텍스트에 포함된 것은 다르다.</a:t>
            </a:r>
          </a:p>
          <a:p/>
          <a:p>
            <a:r>
              <a:t>시간: 51분부터 54분까지, 3분. 장면 도입 20초에서 30초와 예측 질문 5초에서 10초를 포함한다.</a:t>
            </a:r>
          </a:p>
          <a:p/>
          <a:p>
            <a:r>
              <a:t>[제작 브리프]</a:t>
            </a:r>
          </a:p>
          <a:p>
            <a:r>
              <a:t>S17. 컨텍스트 (51분부터 54분까지, 3분)</a:t>
            </a:r>
          </a:p>
          <a:p/>
          <a:p>
            <a:r>
              <a:t>화면 핵심 문장: 이번 호출에 실제로 들어간 입력 전체다.</a:t>
            </a:r>
          </a:p>
          <a:p/>
          <a:p>
            <a:r>
              <a:t>레이아웃과 도식: 입력 칸들(지시, 규칙 파일, CSV 앞 20행 가상, 도구 결과, 이전 대화). 칸 밖 회색 점선 칸: 디스크에 있음은 읽음이 아님.</a:t>
            </a:r>
          </a:p>
          <a:p/>
          <a:p>
            <a:r>
              <a:t>공개 순서와 진행: 장면 20초, 질문 '디스크에 체크리스트가 있으면 모델이 알까?' 5초에서 10초. 안과 밖을 색과 선으로 나눈 뒤 답한다.</a:t>
            </a:r>
          </a:p>
          <a:p/>
          <a:p>
            <a:r>
              <a:t>발표자 노트: v10 S17 정의, 세 항목, 헷갈림(메모리, 세션). 20행 예시는 가상이다.</a:t>
            </a:r>
          </a:p>
          <a:p/>
          <a:p>
            <a:r>
              <a:t>필요 자료와 준비 상태: AS-04 범위 컨테이너(변형). 대표 검수 장.</a:t>
            </a:r>
          </a:p>
          <a:p/>
          <a:p>
            <a:r>
              <a:t>제작 검수 포인트: 회색 칸이 읽힌 것처럼 보이지 않는가.</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v10 S26. CEO Agent: 조사한 페르소나를 상황에 맞게 적용하기</a:t>
            </a:r>
          </a:p>
          <a:p>
            <a:r>
              <a:t>시간: 87분부터 90분까지, 3분</a:t>
            </a:r>
          </a:p>
          <a:p>
            <a:r>
              <a:t>출처: docs/plans/slide-content-plan-v10.md S26, docs/production/slide-production-brief-v01.md S26</a:t>
            </a:r>
          </a:p>
          <a:p/>
          <a:p>
            <a:r>
              <a:t>[v10 원문]</a:t>
            </a:r>
          </a:p>
          <a:p>
            <a:r>
              <a:t>S26. CEO Agent: 조사한 페르소나를 상황에 맞게 적용하기 (87분부터 90분까지, 3분)</a:t>
            </a:r>
          </a:p>
          <a:p/>
          <a:p>
            <a:r>
              <a:t>장면과 질문 (예시 초안): 같은 사실을 사내 검토용 보고와 외부 연설용 문장으로 옮겨야 한다. 질문: 같은 사실이라면 강조도 같아야 할까?</a:t>
            </a:r>
          </a:p>
          <a:p/>
          <a:p>
            <a:r>
              <a:t>이 단계들은 한 작업 흐름의 단계다. 여러 단계가 있다고 서로 독립된 작업자가 되는 것은 아니다.</a:t>
            </a:r>
          </a:p>
          <a:p/>
          <a:p>
            <a:r>
              <a:t>한 문장 정의: 워크플로는 과업, 독자, 자리에 따라 조사에서 얻은 페르소나, 등록(register), 판단 루브릭을 골라 적용하며, 이 선택이 결과의 말투와 지적 우선순위를 바꾼다.</a:t>
            </a:r>
          </a:p>
          <a:p/>
          <a:p>
            <a:r>
              <a:t>핵심 메시지: 이 사례에서 중요한 것은 기능 목록이 아니라 페르소나를 어떻게 얻고 어떻게 쓰는가다. 자료를 조사해 특성을 명세로 만들고, 상황에 맞게 골라 쓴다. 모델을 새로 학습한 것이 아니다.</a:t>
            </a:r>
          </a:p>
          <a:p/>
          <a:p>
            <a:r>
              <a:t>화면 구성 (두 줄 구조):</a:t>
            </a:r>
          </a:p>
          <a:p>
            <a:r>
              <a:t>- 윗줄, 조사 근거(RESEARCH): 본인이 쓴 자료(2024~2026년 레터, 신년사, 기념 메시지, 현장 방문 기록), 본인이 고친 초안의 변경 기록(삭제, 추가, 재작성, 순서 변경), 실제 피드백과 코멘트. 세 항목에서 상황별 특성을 뽑아 페르소나 명세로 만든다. 2차 언론 보도는 보조 근거로만 두고 본인 발언으로 귀속하지 않는다.</a:t>
            </a:r>
          </a:p>
          <a:p>
            <a:r>
              <a:t>- 아랫줄, 실행(EXECUTION): 과업, 독자, 자리를 정한다. 그다음 등록과 판단 기준을 고르고, 관련 맥락만 넣는다. 결과물을 내고 사람의 피드백을 받는다. 피드백은 다시 자료 쪽으로 돌아간다.</a:t>
            </a:r>
          </a:p>
          <a:p>
            <a:r>
              <a:t>- 두 줄 사이에 "관찰된 특성과 가설적 특성은 표시해 구분한다"는 주석을 단다.</a:t>
            </a:r>
          </a:p>
          <a:p/>
          <a:p>
            <a:r>
              <a:t>상세 설명:</a:t>
            </a:r>
          </a:p>
          <a:p>
            <a:r>
              <a:t>- 페르소나는 말투와 등록을 정하고, 루브릭은 무엇을 지적할지를 정한다. 둘은 서로 다른 명세 파일이다. 둘을 독립된 에이전트 두 개로 말하지 않는다.</a:t>
            </a:r>
          </a:p>
          <a:p>
            <a:r>
              <a:t>- 보조 역할 관점, 예를 들어 재무 관점이나 리스크 관점은 실제 인물을 복사한 것이 아니라 기능적 관점이다.</a:t>
            </a:r>
          </a:p>
          <a:p/>
          <a:p>
            <a:r>
              <a:t>구체 예시 (가상, 익명): 같은 사실, "분기 일정 지연 두 건, 원인은 외부 승인 대기"를 두 상황에 적용한다. 사내 보고 검수에서는 "지연 두 건의 원인과 조치 기한을 확인할 수 있는가"를 묻는다. 외부 발언에서는 "외부 승인 대기로 분기 일정 두 건이 지연됐다"는 동일한 사실을 청중이 이해할 배경과 함께 설명한다. 구체적인 화법은 해당 상황의 명세에 따른다. 이 예시는 설명용이며 실제 인물의 말투를 단정하지 않는다.</a:t>
            </a:r>
          </a:p>
          <a:p/>
          <a:p>
            <a:r>
              <a:t>헷갈리는 지점: 이 선택은 모델 학습이 아니다. 입력 맥락과 명세를 고르는 일이다. 페르소나를 골랐다고 사실이 바뀌지는 않는다. 여러 관점이 함께 말한다고 독립 검증이 되지도 않는다.</a:t>
            </a:r>
          </a:p>
          <a:p/>
          <a:p>
            <a:r>
              <a:t>확인 질문과 모범 답안: 같은 사실을 사내 보고와 외부 연설에 쓰면 결과가 같아야 하는가? 아니다. 독자와 자리에 따라 등록과 강조를 고르는 것이 목적이다. 다만 사실 자체는 같아야 하며, 그 점을 사람이 확인한다.</a:t>
            </a:r>
          </a:p>
          <a:p/>
          <a:p>
            <a:r>
              <a:t>측정 상태: CEO Agent 프로젝트의 방법 설명 문서에 근거한다. 실제 사용자 성과나 검수 정확도는 측정하지 않았다. 원자료는 이 공개 저장소에 없다. 근거 출처는 ceo-agent/sources/README.md, ceo-agent/.claude/skills/extract-persona-from-drafts/SKILL.md, ceo-agent/README.md 등 로컬 참고 자료다.</a:t>
            </a:r>
          </a:p>
          <a:p/>
          <a:p>
            <a:r>
              <a:t>전환 질문: 같은 사실을 두 상황에 쓸 때 바뀌는 것과 바뀌지 않는 것은 무엇인가?</a:t>
            </a:r>
          </a:p>
          <a:p/>
          <a:p>
            <a:r>
              <a:t>시간: 87분부터 90분까지, 3분.</a:t>
            </a:r>
          </a:p>
          <a:p/>
          <a:p>
            <a:r>
              <a:t>[제작 브리프]</a:t>
            </a:r>
          </a:p>
          <a:p>
            <a:r>
              <a:t>S26. CEO Agent: 조사한 페르소나를 상황에 맞게 적용하기 (87분부터 90분까지, 3분)</a:t>
            </a:r>
          </a:p>
          <a:p/>
          <a:p>
            <a:r>
              <a:t>화면 핵심 문장: 조사한 근거에서 나온 페르소나를 과업, 독자, 자리에 맞게 고른다.</a:t>
            </a:r>
          </a:p>
          <a:p/>
          <a:p>
            <a:r>
              <a:t>레이아웃과 도식: 두 줄. 윗줄 RESEARCH: 본인 글과 서신, 편집 변경 기록, 실제 피드백 → 상황별 특성 → 페르소나 명세(2차 보도는 보조). 아랫줄 EXECUTION: 과업, 독자, 자리 → 등록과 기준 → 관련 맥락 → 결과 → 사람 피드백.</a:t>
            </a:r>
          </a:p>
          <a:p/>
          <a:p>
            <a:r>
              <a:t>공개 순서와 진행: 장면 20초, 질문 '같은 사실이면 사내 보고와 외부 연설의 강조도 같아야 할까?' 5초에서 10초. 두 줄을 짚고 답한다. 전환 질문: 바뀌는 것과 바뀌지 않는 것은?</a:t>
            </a:r>
          </a:p>
          <a:p/>
          <a:p>
            <a:r>
              <a:t>발표자 노트: v10 S26 두 줄 구조. 사례는 가상이다(같은 사실, 두 자리). 실제 인물의 말투는 단정하지 않는다. 원자료는 공개하지 않는다. 여러 단계는 한 흐름이며 독립 작업자가 아니다.</a:t>
            </a:r>
          </a:p>
          <a:p/>
          <a:p>
            <a:r>
              <a:t>필요 자료와 준비 상태: AS-11 페르소나 두 줄 도식. 원자료 방법 문서는 논리 경로로만 참조.</a:t>
            </a:r>
          </a:p>
          <a:p/>
          <a:p>
            <a:r>
              <a:t>제작 검수 포인트: 원문 인용과 내부 전략, 인물 식별자가 없는가. 독립 작업자나 다중 모델 주장이 없는가.</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v10 S34. 다섯 사례 종합</a:t>
            </a:r>
          </a:p>
          <a:p>
            <a:r>
              <a:t>시간: 111분부터 115분까지, 4분</a:t>
            </a:r>
          </a:p>
          <a:p>
            <a:r>
              <a:t>출처: docs/plans/slide-content-plan-v10.md S34, docs/production/slide-production-brief-v01.md S34</a:t>
            </a:r>
          </a:p>
          <a:p/>
          <a:p>
            <a:r>
              <a:t>[v10 원문]</a:t>
            </a:r>
          </a:p>
          <a:p>
            <a:r>
              <a:t>S34. 다섯 사례 종합 (111분부터 115분까지, 4분)</a:t>
            </a:r>
          </a:p>
          <a:p/>
          <a:p>
            <a:r>
              <a:t>장면과 질문 (예시 초안): 처음의 AI교양 글로 돌아간다. 원문을 받고, 확정을 기다리고, 삽화와 보존, 비공개 초안, 재열람까지 이어진 흐름을 용어로 다시 읽는다. 질문: 다른 네 사례에서도 같은 질문이 통할까?</a:t>
            </a:r>
          </a:p>
          <a:p/>
          <a:p>
            <a:r>
              <a:t>한 문장 정의: 다섯 사례는 같은 요소, 즉 규칙, 컨텍스트, 도구와 실행 위치, 상태, 검증과 사람의 최종 책임으로 설명할 수 있다. 다만 사례마다 무게를 두는 곳이 다르다.</a:t>
            </a:r>
          </a:p>
          <a:p/>
          <a:p>
            <a:r>
              <a:t>상세 설명 (간결 비교):</a:t>
            </a:r>
          </a:p>
          <a:p>
            <a:r>
              <a:t>- AI교양: 흐름과 전환 조건(사람의 확정 게이트)에 무게. 재열람으로 검증.</a:t>
            </a:r>
          </a:p>
          <a:p>
            <a:r>
              <a:t>- OpenClaw: 실행 위치와 개입 방식에 무게(워커, 원격 앱).</a:t>
            </a:r>
          </a:p>
          <a:p>
            <a:r>
              <a:t>- OMH: 제약에 맞춘 도구와 권한, 확인 가능한 증거와 한계에 무게.</a:t>
            </a:r>
          </a:p>
          <a:p>
            <a:r>
              <a:t>- Grokbot 설명: 책임과 실행 위치의 패턴. 첨부 미확인, 독립 검증 없음.</a:t>
            </a:r>
          </a:p>
          <a:p>
            <a:r>
              <a:t>- CEO Agent: 조사 근거에서 나온 페르소나를 상황에 맞게 고르는 흐름. 여러 단계는 한 흐름의 단계이며 독립 작업자가 아니다.</a:t>
            </a:r>
          </a:p>
          <a:p/>
          <a:p>
            <a:r>
              <a:t>장면에 다시 적용 (예시 초안): 처음의 AI교양 흐름에 용어를 대입한다. 모델은 초안 문장을 만들고, 하네스는 원문 보존과 확정 게이트를 담고, 워크플로우는 단계 순서를 맡고, 자동화는 확정 뒤의 실행을 맡고, 검증은 재열람을 맡는다. 사람은 최종 확정을 한다.</a:t>
            </a:r>
          </a:p>
          <a:p/>
          <a:p>
            <a:r>
              <a:t>헷갈리는 지점: 사례가 다섯이라고 방식이 다섯 가지인 것은 아니다. 같은 요소를 다른 강조로 쓴 것이다. 사례별 성과를 비교한 자료도 아니다.</a:t>
            </a:r>
          </a:p>
          <a:p/>
          <a:p>
            <a:r>
              <a:t>화면 구성: 다섯 사례를 한 줄씩 적는 목록. 표 대신 목록을 쓴다. 아래 주석: 측정된 성과 비교 아님.</a:t>
            </a:r>
          </a:p>
          <a:p/>
          <a:p>
            <a:r>
              <a:t>확인 질문과 모범 답안: 다섯 사례 가운데 실사용 성과가 측정된 사례가 있나? 이 워크샵에서는 없다. 설계와 기록 구조만 비교했다.</a:t>
            </a:r>
          </a:p>
          <a:p/>
          <a:p>
            <a:r>
              <a:t>전환 질문: 이 중 하나를 우리 업무에 옮긴다면 무엇을 먼저 정해야 할까?</a:t>
            </a:r>
          </a:p>
          <a:p/>
          <a:p>
            <a:r>
              <a:t>시간: 111분부터 115분까지, 4분.</a:t>
            </a:r>
          </a:p>
          <a:p/>
          <a:p>
            <a:r>
              <a:t>[제작 브리프]</a:t>
            </a:r>
          </a:p>
          <a:p>
            <a:r>
              <a:t>S34. 다섯 사례 종합 (111분부터 115분까지, 4분)</a:t>
            </a:r>
          </a:p>
          <a:p/>
          <a:p>
            <a:r>
              <a:t>화면 핵심 문장: 다섯 사례는 같은 요소의 무게가 다르다.</a:t>
            </a:r>
          </a:p>
          <a:p/>
          <a:p>
            <a:r>
              <a:t>레이아웃과 도식: 상단: AI교양 흐름을 S1과 같은 다섯 칸으로 축약. 아래: 다섯 줄 목록(사례와 무게를 둔 곳). 하단: 측정 성과 비교 아님.</a:t>
            </a:r>
          </a:p>
          <a:p/>
          <a:p>
            <a:r>
              <a:t>공개 순서와 진행: S1 장면으로 돌아간다. 질문 '다른 네 사례에서도 같은 질문이 통할까?' 5초에서 10초. 용어로 흐름을 다시 읽고 다섯 줄을 짚는다. 전환 질문: 우리 업무에 옮긴다면 무엇을 먼저 정할까?</a:t>
            </a:r>
          </a:p>
          <a:p/>
          <a:p>
            <a:r>
              <a:t>발표자 노트: v10 S34 본문. 측정 성과 비교와 독립 검증이 아니다. 사례 순서는 S7, S11, S15, S21, S26과 맞춘다.</a:t>
            </a:r>
          </a:p>
          <a:p/>
          <a:p>
            <a:r>
              <a:t>필요 자료와 준비 상태: AS-10 단계 도식(재사용), 목록 텍스트.</a:t>
            </a:r>
          </a:p>
          <a:p/>
          <a:p>
            <a:r>
              <a:t>제작 검수 포인트: 우열을 암시하는 결론이 없는가.</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7F4"/>
        </a:solidFill>
        <a:effectLst/>
      </p:bgPr>
    </p:bg>
    <p:spTree>
      <p:nvGrpSpPr>
        <p:cNvPr id="1" name=""/>
        <p:cNvGrpSpPr/>
        <p:nvPr/>
      </p:nvGrpSpPr>
      <p:grpSpPr/>
      <p:sp>
        <p:nvSpPr>
          <p:cNvPr id="2" name="T:1:01:meta-left"/>
          <p:cNvSpPr txBox="1"/>
          <p:nvPr/>
        </p:nvSpPr>
        <p:spPr>
          <a:xfrm>
            <a:off x="457200" y="384048"/>
            <a:ext cx="5486400" cy="292608"/>
          </a:xfrm>
          <a:prstGeom prst="rect">
            <a:avLst/>
          </a:prstGeom>
          <a:noFill/>
        </p:spPr>
        <p:txBody>
          <a:bodyPr wrap="square" anchor="ctr" lIns="54864" rIns="54864" tIns="27432" bIns="27432">
            <a:noAutofit/>
          </a:bodyPr>
          <a:lstStyle/>
          <a:p>
            <a:pPr algn="l">
              <a:lnSpc>
                <a:spcPct val="108000"/>
              </a:lnSpc>
            </a:pPr>
            <a:r>
              <a:rPr sz="1600" b="1">
                <a:solidFill>
                  <a:srgbClr val="2B5FA8"/>
                </a:solidFill>
                <a:latin typeface="Nanum Gothic"/>
                <a:ea typeface="Nanum Gothic"/>
                <a:cs typeface="Nanum Gothic"/>
              </a:rPr>
              <a:t>S1</a:t>
            </a:r>
            <a:r>
              <a:rPr sz="1600" b="0">
                <a:solidFill>
                  <a:srgbClr val="5B6470"/>
                </a:solidFill>
                <a:latin typeface="Nanum Gothic"/>
                <a:ea typeface="Nanum Gothic"/>
                <a:cs typeface="Nanum Gothic"/>
              </a:rPr>
              <a:t>   시작</a:t>
            </a:r>
          </a:p>
        </p:txBody>
      </p:sp>
      <p:sp>
        <p:nvSpPr>
          <p:cNvPr id="3" name="T:1:02:meta-right"/>
          <p:cNvSpPr txBox="1"/>
          <p:nvPr/>
        </p:nvSpPr>
        <p:spPr>
          <a:xfrm>
            <a:off x="5943600" y="384048"/>
            <a:ext cx="5790895" cy="292608"/>
          </a:xfrm>
          <a:prstGeom prst="rect">
            <a:avLst/>
          </a:prstGeom>
          <a:noFill/>
        </p:spPr>
        <p:txBody>
          <a:bodyPr wrap="square" anchor="ctr" lIns="54864" rIns="54864" tIns="27432" bIns="27432">
            <a:noAutofit/>
          </a:bodyPr>
          <a:lstStyle/>
          <a:p>
            <a:pPr algn="r">
              <a:lnSpc>
                <a:spcPct val="108000"/>
              </a:lnSpc>
            </a:pPr>
            <a:r>
              <a:rPr sz="1600" b="0">
                <a:solidFill>
                  <a:srgbClr val="5B6470"/>
                </a:solidFill>
                <a:latin typeface="Nanum Gothic"/>
                <a:ea typeface="Nanum Gothic"/>
                <a:cs typeface="Nanum Gothic"/>
              </a:rPr>
              <a:t>원본 S1   0분부터 2분까지, 2분</a:t>
            </a:r>
          </a:p>
        </p:txBody>
      </p:sp>
      <p:sp>
        <p:nvSpPr>
          <p:cNvPr id="4" name="T:1:03:title"/>
          <p:cNvSpPr txBox="1"/>
          <p:nvPr/>
        </p:nvSpPr>
        <p:spPr>
          <a:xfrm>
            <a:off x="457200" y="713232"/>
            <a:ext cx="11277295" cy="603504"/>
          </a:xfrm>
          <a:prstGeom prst="rect">
            <a:avLst/>
          </a:prstGeom>
          <a:noFill/>
        </p:spPr>
        <p:txBody>
          <a:bodyPr wrap="square" anchor="t" lIns="54864" rIns="54864" tIns="27432" bIns="27432">
            <a:noAutofit/>
          </a:bodyPr>
          <a:lstStyle/>
          <a:p>
            <a:pPr algn="l">
              <a:lnSpc>
                <a:spcPct val="108000"/>
              </a:lnSpc>
            </a:pPr>
            <a:r>
              <a:rPr sz="3600" b="1">
                <a:solidFill>
                  <a:srgbClr val="1F2328"/>
                </a:solidFill>
                <a:latin typeface="Nanum Gothic"/>
                <a:ea typeface="Nanum Gothic"/>
                <a:cs typeface="Nanum Gothic"/>
              </a:rPr>
              <a:t>시작: 완성된 업무 한 건</a:t>
            </a:r>
          </a:p>
        </p:txBody>
      </p:sp>
      <p:sp>
        <p:nvSpPr>
          <p:cNvPr id="5" name="B:1:04:question"/>
          <p:cNvSpPr/>
          <p:nvPr/>
        </p:nvSpPr>
        <p:spPr>
          <a:xfrm>
            <a:off x="457200" y="1426464"/>
            <a:ext cx="11277295" cy="548640"/>
          </a:xfrm>
          <a:prstGeom prst="rect">
            <a:avLst/>
          </a:prstGeom>
          <a:solidFill>
            <a:srgbClr val="E9ECF1"/>
          </a:solidFill>
          <a:ln>
            <a:noFill/>
          </a:ln>
          <a:effectLst/>
        </p:spPr>
        <p:txBody>
          <a:bodyPr rtlCol="0" anchor="ctr" wrap="square" lIns="274320" rIns="54864" tIns="27432" bIns="27432">
            <a:noAutofit/>
          </a:bodyPr>
          <a:lstStyle/>
          <a:p>
            <a:pPr algn="l">
              <a:lnSpc>
                <a:spcPct val="108000"/>
              </a:lnSpc>
            </a:pPr>
            <a:r>
              <a:rPr sz="2000" b="1">
                <a:solidFill>
                  <a:srgbClr val="2B5FA8"/>
                </a:solidFill>
                <a:latin typeface="Nanum Gothic"/>
                <a:ea typeface="Nanum Gothic"/>
                <a:cs typeface="Nanum Gothic"/>
              </a:rPr>
              <a:t>질문   </a:t>
            </a:r>
            <a:r>
              <a:rPr sz="2400" b="0">
                <a:solidFill>
                  <a:srgbClr val="1F2328"/>
                </a:solidFill>
                <a:latin typeface="Nanum Gothic"/>
                <a:ea typeface="Nanum Gothic"/>
                <a:cs typeface="Nanum Gothic"/>
              </a:rPr>
              <a:t>이 흐름이 단계를 건너뛰지 않게 하는 것은 누구일까?</a:t>
            </a:r>
          </a:p>
        </p:txBody>
      </p:sp>
      <p:sp>
        <p:nvSpPr>
          <p:cNvPr id="6" name="B:1:05:question-accent"/>
          <p:cNvSpPr/>
          <p:nvPr/>
        </p:nvSpPr>
        <p:spPr>
          <a:xfrm>
            <a:off x="457200" y="1426464"/>
            <a:ext cx="73152" cy="548640"/>
          </a:xfrm>
          <a:prstGeom prst="rect">
            <a:avLst/>
          </a:prstGeom>
          <a:solidFill>
            <a:srgbClr val="2B5FA8"/>
          </a:solidFill>
          <a:ln>
            <a:noFill/>
          </a:ln>
          <a:effectLst/>
        </p:spPr>
        <p:txBody>
          <a:bodyPr rtlCol="0" anchor="ctr"/>
          <a:lstStyle/>
          <a:p>
            <a:pPr algn="ctr"/>
          </a:p>
        </p:txBody>
      </p:sp>
      <p:sp>
        <p:nvSpPr>
          <p:cNvPr id="7" name="T:1:06:lead"/>
          <p:cNvSpPr txBox="1"/>
          <p:nvPr/>
        </p:nvSpPr>
        <p:spPr>
          <a:xfrm>
            <a:off x="457200" y="2084832"/>
            <a:ext cx="11277295" cy="457200"/>
          </a:xfrm>
          <a:prstGeom prst="rect">
            <a:avLst/>
          </a:prstGeom>
          <a:noFill/>
        </p:spPr>
        <p:txBody>
          <a:bodyPr wrap="square" anchor="ctr" lIns="54864" rIns="54864" tIns="27432" bIns="27432">
            <a:noAutofit/>
          </a:bodyPr>
          <a:lstStyle/>
          <a:p>
            <a:pPr algn="l">
              <a:lnSpc>
                <a:spcPct val="108000"/>
              </a:lnSpc>
            </a:pPr>
            <a:r>
              <a:rPr sz="2000" b="1">
                <a:solidFill>
                  <a:srgbClr val="2B5FA8"/>
                </a:solidFill>
                <a:latin typeface="Nanum Gothic"/>
                <a:ea typeface="Nanum Gothic"/>
                <a:cs typeface="Nanum Gothic"/>
              </a:rPr>
              <a:t>장면   </a:t>
            </a:r>
            <a:r>
              <a:rPr sz="2400" b="1">
                <a:solidFill>
                  <a:srgbClr val="1F2328"/>
                </a:solidFill>
                <a:latin typeface="Nanum Gothic"/>
                <a:ea typeface="Nanum Gothic"/>
                <a:cs typeface="Nanum Gothic"/>
              </a:rPr>
              <a:t>AI교양 글 한 편의 작업이 끝났다. 어떤 단계를 거쳤을까?</a:t>
            </a:r>
          </a:p>
        </p:txBody>
      </p:sp>
      <p:sp>
        <p:nvSpPr>
          <p:cNvPr id="8" name="T:1:07:footnote"/>
          <p:cNvSpPr txBox="1"/>
          <p:nvPr/>
        </p:nvSpPr>
        <p:spPr>
          <a:xfrm>
            <a:off x="457200" y="6108192"/>
            <a:ext cx="11277295" cy="347472"/>
          </a:xfrm>
          <a:prstGeom prst="rect">
            <a:avLst/>
          </a:prstGeom>
          <a:noFill/>
        </p:spPr>
        <p:txBody>
          <a:bodyPr wrap="square" anchor="ctr" lIns="54864" rIns="54864" tIns="27432" bIns="27432">
            <a:noAutofit/>
          </a:bodyPr>
          <a:lstStyle/>
          <a:p>
            <a:pPr algn="l">
              <a:lnSpc>
                <a:spcPct val="108000"/>
              </a:lnSpc>
            </a:pPr>
            <a:r>
              <a:rPr sz="1600" b="0">
                <a:solidFill>
                  <a:srgbClr val="5B6470"/>
                </a:solidFill>
                <a:latin typeface="Nanum Gothic"/>
                <a:ea typeface="Nanum Gothic"/>
                <a:cs typeface="Nanum Gothic"/>
              </a:rPr>
              <a:t>비공개 초안에는 설정된 광고와 안내 이미지가 들어간다. 실제 화면과 계정 정보는 보여 주지 않는다.</a:t>
            </a:r>
          </a:p>
        </p:txBody>
      </p:sp>
      <p:sp>
        <p:nvSpPr>
          <p:cNvPr id="9" name="C:1:08:workflow-scope"/>
          <p:cNvSpPr/>
          <p:nvPr/>
        </p:nvSpPr>
        <p:spPr>
          <a:xfrm>
            <a:off x="457200" y="2999232"/>
            <a:ext cx="9281160" cy="2606040"/>
          </a:xfrm>
          <a:prstGeom prst="roundRect">
            <a:avLst>
              <a:gd name="adj" fmla="val 4210"/>
            </a:avLst>
          </a:prstGeom>
          <a:noFill/>
          <a:ln w="28575">
            <a:solidFill>
              <a:srgbClr val="2B5FA8"/>
            </a:solidFill>
          </a:ln>
          <a:effectLst/>
        </p:spPr>
        <p:txBody>
          <a:bodyPr rtlCol="0" anchor="ctr"/>
          <a:lstStyle/>
          <a:p>
            <a:pPr algn="ctr"/>
          </a:p>
        </p:txBody>
      </p:sp>
      <p:sp>
        <p:nvSpPr>
          <p:cNvPr id="10" name="T:1:09:scope-label"/>
          <p:cNvSpPr txBox="1"/>
          <p:nvPr/>
        </p:nvSpPr>
        <p:spPr>
          <a:xfrm>
            <a:off x="640080" y="3108960"/>
            <a:ext cx="3840480" cy="384048"/>
          </a:xfrm>
          <a:prstGeom prst="rect">
            <a:avLst/>
          </a:prstGeom>
          <a:noFill/>
        </p:spPr>
        <p:txBody>
          <a:bodyPr wrap="square" anchor="ctr" lIns="54864" rIns="54864" tIns="27432" bIns="27432">
            <a:noAutofit/>
          </a:bodyPr>
          <a:lstStyle/>
          <a:p>
            <a:pPr algn="l">
              <a:lnSpc>
                <a:spcPct val="108000"/>
              </a:lnSpc>
            </a:pPr>
            <a:r>
              <a:rPr sz="2000" b="1">
                <a:solidFill>
                  <a:srgbClr val="2B5FA8"/>
                </a:solidFill>
                <a:latin typeface="Nanum Gothic"/>
                <a:ea typeface="Nanum Gothic"/>
                <a:cs typeface="Nanum Gothic"/>
              </a:rPr>
              <a:t>이 업무 흐름의 범위</a:t>
            </a:r>
          </a:p>
        </p:txBody>
      </p:sp>
      <p:sp>
        <p:nvSpPr>
          <p:cNvPr id="11" name="N:1:10:원문 보존"/>
          <p:cNvSpPr/>
          <p:nvPr/>
        </p:nvSpPr>
        <p:spPr>
          <a:xfrm>
            <a:off x="640080" y="3657600"/>
            <a:ext cx="1600200" cy="1234440"/>
          </a:xfrm>
          <a:prstGeom prst="roundRect">
            <a:avLst>
              <a:gd name="adj" fmla="val 6666"/>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원문 보존</a:t>
            </a:r>
          </a:p>
          <a:p>
            <a:pPr algn="ctr">
              <a:lnSpc>
                <a:spcPct val="108000"/>
              </a:lnSpc>
            </a:pPr>
            <a:r>
              <a:rPr sz="2000" b="0">
                <a:solidFill>
                  <a:srgbClr val="1F2328"/>
                </a:solidFill>
                <a:latin typeface="Nanum Gothic"/>
                <a:ea typeface="Nanum Gothic"/>
                <a:cs typeface="Nanum Gothic"/>
              </a:rPr>
              <a:t>v01, v02</a:t>
            </a:r>
          </a:p>
        </p:txBody>
      </p:sp>
      <p:sp>
        <p:nvSpPr>
          <p:cNvPr id="12" name="N:1:11:사용자"/>
          <p:cNvSpPr/>
          <p:nvPr/>
        </p:nvSpPr>
        <p:spPr>
          <a:xfrm>
            <a:off x="2468880" y="3657600"/>
            <a:ext cx="1600200" cy="1234440"/>
          </a:xfrm>
          <a:prstGeom prst="roundRect">
            <a:avLst>
              <a:gd name="adj" fmla="val 6666"/>
            </a:avLst>
          </a:prstGeom>
          <a:solidFill>
            <a:srgbClr val="FFFFFF"/>
          </a:solidFill>
          <a:ln w="38100">
            <a:solidFill>
              <a:srgbClr val="B45309"/>
            </a:solidFill>
          </a:ln>
          <a:effectLst/>
        </p:spPr>
        <p:txBody>
          <a:bodyPr rtlCol="0" anchor="ctr" wrap="square" lIns="54864" rIns="54864" tIns="27432" bIns="27432">
            <a:noAutofit/>
          </a:bodyPr>
          <a:lstStyle/>
          <a:p>
            <a:pPr algn="ctr">
              <a:lnSpc>
                <a:spcPct val="108000"/>
              </a:lnSpc>
            </a:pPr>
            <a:r>
              <a:rPr sz="2000" b="1">
                <a:solidFill>
                  <a:srgbClr val="1F2328"/>
                </a:solidFill>
                <a:latin typeface="Nanum Gothic"/>
                <a:ea typeface="Nanum Gothic"/>
                <a:cs typeface="Nanum Gothic"/>
              </a:rPr>
              <a:t>사용자</a:t>
            </a:r>
          </a:p>
          <a:p>
            <a:pPr algn="ctr">
              <a:lnSpc>
                <a:spcPct val="108000"/>
              </a:lnSpc>
            </a:pPr>
            <a:r>
              <a:rPr sz="2000" b="1">
                <a:solidFill>
                  <a:srgbClr val="1F2328"/>
                </a:solidFill>
                <a:latin typeface="Nanum Gothic"/>
                <a:ea typeface="Nanum Gothic"/>
                <a:cs typeface="Nanum Gothic"/>
              </a:rPr>
              <a:t>최종 확정</a:t>
            </a:r>
          </a:p>
        </p:txBody>
      </p:sp>
      <p:sp>
        <p:nvSpPr>
          <p:cNvPr id="13" name="N:1:12:삽화 한 장"/>
          <p:cNvSpPr/>
          <p:nvPr/>
        </p:nvSpPr>
        <p:spPr>
          <a:xfrm>
            <a:off x="4297680" y="3657600"/>
            <a:ext cx="1600200" cy="1234440"/>
          </a:xfrm>
          <a:prstGeom prst="roundRect">
            <a:avLst>
              <a:gd name="adj" fmla="val 6666"/>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삽화 한 장</a:t>
            </a:r>
          </a:p>
          <a:p>
            <a:pPr algn="ctr">
              <a:lnSpc>
                <a:spcPct val="108000"/>
              </a:lnSpc>
            </a:pPr>
            <a:r>
              <a:rPr sz="2000" b="0">
                <a:solidFill>
                  <a:srgbClr val="1F2328"/>
                </a:solidFill>
                <a:latin typeface="Nanum Gothic"/>
                <a:ea typeface="Nanum Gothic"/>
                <a:cs typeface="Nanum Gothic"/>
              </a:rPr>
              <a:t>Obsidian</a:t>
            </a:r>
          </a:p>
          <a:p>
            <a:pPr algn="ctr">
              <a:lnSpc>
                <a:spcPct val="108000"/>
              </a:lnSpc>
            </a:pPr>
            <a:r>
              <a:rPr sz="2000" b="0">
                <a:solidFill>
                  <a:srgbClr val="1F2328"/>
                </a:solidFill>
                <a:latin typeface="Nanum Gothic"/>
                <a:ea typeface="Nanum Gothic"/>
                <a:cs typeface="Nanum Gothic"/>
              </a:rPr>
              <a:t>보관</a:t>
            </a:r>
          </a:p>
        </p:txBody>
      </p:sp>
      <p:sp>
        <p:nvSpPr>
          <p:cNvPr id="14" name="N:1:13:네이버"/>
          <p:cNvSpPr/>
          <p:nvPr/>
        </p:nvSpPr>
        <p:spPr>
          <a:xfrm>
            <a:off x="6126480" y="3657600"/>
            <a:ext cx="1600200" cy="1234440"/>
          </a:xfrm>
          <a:prstGeom prst="roundRect">
            <a:avLst>
              <a:gd name="adj" fmla="val 6666"/>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네이버</a:t>
            </a:r>
          </a:p>
          <a:p>
            <a:pPr algn="ctr">
              <a:lnSpc>
                <a:spcPct val="108000"/>
              </a:lnSpc>
            </a:pPr>
            <a:r>
              <a:rPr sz="2000" b="0">
                <a:solidFill>
                  <a:srgbClr val="1F2328"/>
                </a:solidFill>
                <a:latin typeface="Nanum Gothic"/>
                <a:ea typeface="Nanum Gothic"/>
                <a:cs typeface="Nanum Gothic"/>
              </a:rPr>
              <a:t>비공개 초안</a:t>
            </a:r>
          </a:p>
        </p:txBody>
      </p:sp>
      <p:sp>
        <p:nvSpPr>
          <p:cNvPr id="15" name="N:1:14:다시 열어"/>
          <p:cNvSpPr/>
          <p:nvPr/>
        </p:nvSpPr>
        <p:spPr>
          <a:xfrm>
            <a:off x="7955279" y="3657600"/>
            <a:ext cx="1600200" cy="1234440"/>
          </a:xfrm>
          <a:prstGeom prst="roundRect">
            <a:avLst>
              <a:gd name="adj" fmla="val 6666"/>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다시 열어</a:t>
            </a:r>
          </a:p>
          <a:p>
            <a:pPr algn="ctr">
              <a:lnSpc>
                <a:spcPct val="108000"/>
              </a:lnSpc>
            </a:pPr>
            <a:r>
              <a:rPr sz="2000" b="0">
                <a:solidFill>
                  <a:srgbClr val="1F2328"/>
                </a:solidFill>
                <a:latin typeface="Nanum Gothic"/>
                <a:ea typeface="Nanum Gothic"/>
                <a:cs typeface="Nanum Gothic"/>
              </a:rPr>
              <a:t>확인</a:t>
            </a:r>
          </a:p>
        </p:txBody>
      </p:sp>
      <p:cxnSp>
        <p:nvCxnSpPr>
          <p:cNvPr id="16" name="L:1:15:원문 보존-&gt;사용자"/>
          <p:cNvCxnSpPr>
            <a:stCxn id="11" idx="3"/>
            <a:endCxn id="12" idx="1"/>
          </p:cNvCxnSpPr>
          <p:nvPr/>
        </p:nvCxnSpPr>
        <p:spPr>
          <a:xfrm flipV="1">
            <a:off x="2240280" y="4274820"/>
            <a:ext cx="228600" cy="0"/>
          </a:xfrm>
          <a:prstGeom prst="line">
            <a:avLst/>
          </a:prstGeom>
          <a:ln w="19050">
            <a:solidFill>
              <a:srgbClr val="1F2328"/>
            </a:solidFill>
            <a:tailEnd type="triangle" w="med" len="med"/>
          </a:ln>
        </p:spPr>
      </p:cxnSp>
      <p:cxnSp>
        <p:nvCxnSpPr>
          <p:cNvPr id="17" name="L:1:16:사용자-&gt;삽화 한 장"/>
          <p:cNvCxnSpPr>
            <a:stCxn id="12" idx="3"/>
            <a:endCxn id="13" idx="1"/>
          </p:cNvCxnSpPr>
          <p:nvPr/>
        </p:nvCxnSpPr>
        <p:spPr>
          <a:xfrm flipV="1">
            <a:off x="4069080" y="4274820"/>
            <a:ext cx="228600" cy="0"/>
          </a:xfrm>
          <a:prstGeom prst="line">
            <a:avLst/>
          </a:prstGeom>
          <a:ln w="19050">
            <a:solidFill>
              <a:srgbClr val="1F2328"/>
            </a:solidFill>
            <a:tailEnd type="triangle" w="med" len="med"/>
          </a:ln>
        </p:spPr>
      </p:cxnSp>
      <p:cxnSp>
        <p:nvCxnSpPr>
          <p:cNvPr id="18" name="L:1:17:삽화 한 장-&gt;네이버"/>
          <p:cNvCxnSpPr>
            <a:stCxn id="13" idx="3"/>
            <a:endCxn id="14" idx="1"/>
          </p:cNvCxnSpPr>
          <p:nvPr/>
        </p:nvCxnSpPr>
        <p:spPr>
          <a:xfrm flipV="1">
            <a:off x="5897880" y="4274820"/>
            <a:ext cx="228600" cy="0"/>
          </a:xfrm>
          <a:prstGeom prst="line">
            <a:avLst/>
          </a:prstGeom>
          <a:ln w="19050">
            <a:solidFill>
              <a:srgbClr val="1F2328"/>
            </a:solidFill>
            <a:tailEnd type="triangle" w="med" len="med"/>
          </a:ln>
        </p:spPr>
      </p:cxnSp>
      <p:cxnSp>
        <p:nvCxnSpPr>
          <p:cNvPr id="19" name="L:1:18:네이버-&gt;다시 열어"/>
          <p:cNvCxnSpPr>
            <a:stCxn id="14" idx="3"/>
            <a:endCxn id="15" idx="1"/>
          </p:cNvCxnSpPr>
          <p:nvPr/>
        </p:nvCxnSpPr>
        <p:spPr>
          <a:xfrm flipV="1">
            <a:off x="7726680" y="4274820"/>
            <a:ext cx="228599" cy="0"/>
          </a:xfrm>
          <a:prstGeom prst="line">
            <a:avLst/>
          </a:prstGeom>
          <a:ln w="19050">
            <a:solidFill>
              <a:srgbClr val="1F2328"/>
            </a:solidFill>
            <a:tailEnd type="triangle" w="med" len="med"/>
          </a:ln>
        </p:spPr>
      </p:cxnSp>
      <p:sp>
        <p:nvSpPr>
          <p:cNvPr id="20" name="T:1:19:tag-버전 기록"/>
          <p:cNvSpPr txBox="1"/>
          <p:nvPr/>
        </p:nvSpPr>
        <p:spPr>
          <a:xfrm>
            <a:off x="640080" y="5001768"/>
            <a:ext cx="1600200" cy="365760"/>
          </a:xfrm>
          <a:prstGeom prst="rect">
            <a:avLst/>
          </a:prstGeom>
          <a:noFill/>
        </p:spPr>
        <p:txBody>
          <a:bodyPr wrap="square" anchor="ctr" lIns="54864" rIns="54864" tIns="27432" bIns="27432">
            <a:noAutofit/>
          </a:bodyPr>
          <a:lstStyle/>
          <a:p>
            <a:pPr algn="ctr">
              <a:lnSpc>
                <a:spcPct val="108000"/>
              </a:lnSpc>
            </a:pPr>
            <a:r>
              <a:rPr sz="2000" b="0">
                <a:solidFill>
                  <a:srgbClr val="5B6470"/>
                </a:solidFill>
                <a:latin typeface="Nanum Gothic"/>
                <a:ea typeface="Nanum Gothic"/>
                <a:cs typeface="Nanum Gothic"/>
              </a:rPr>
              <a:t>버전 기록</a:t>
            </a:r>
          </a:p>
        </p:txBody>
      </p:sp>
      <p:sp>
        <p:nvSpPr>
          <p:cNvPr id="21" name="T:1:20:tag-사람이 결정"/>
          <p:cNvSpPr txBox="1"/>
          <p:nvPr/>
        </p:nvSpPr>
        <p:spPr>
          <a:xfrm>
            <a:off x="2468880" y="5001768"/>
            <a:ext cx="1600200" cy="365760"/>
          </a:xfrm>
          <a:prstGeom prst="rect">
            <a:avLst/>
          </a:prstGeom>
          <a:noFill/>
        </p:spPr>
        <p:txBody>
          <a:bodyPr wrap="square" anchor="ctr" lIns="54864" rIns="54864" tIns="27432" bIns="27432">
            <a:noAutofit/>
          </a:bodyPr>
          <a:lstStyle/>
          <a:p>
            <a:pPr algn="ctr">
              <a:lnSpc>
                <a:spcPct val="108000"/>
              </a:lnSpc>
            </a:pPr>
            <a:r>
              <a:rPr sz="2000" b="1">
                <a:solidFill>
                  <a:srgbClr val="B45309"/>
                </a:solidFill>
                <a:latin typeface="Nanum Gothic"/>
                <a:ea typeface="Nanum Gothic"/>
                <a:cs typeface="Nanum Gothic"/>
              </a:rPr>
              <a:t>사람이 결정</a:t>
            </a:r>
          </a:p>
        </p:txBody>
      </p:sp>
      <p:sp>
        <p:nvSpPr>
          <p:cNvPr id="22" name="T:1:21:tag-이미지 보관"/>
          <p:cNvSpPr txBox="1"/>
          <p:nvPr/>
        </p:nvSpPr>
        <p:spPr>
          <a:xfrm>
            <a:off x="4297680" y="5001768"/>
            <a:ext cx="1600200" cy="365760"/>
          </a:xfrm>
          <a:prstGeom prst="rect">
            <a:avLst/>
          </a:prstGeom>
          <a:noFill/>
        </p:spPr>
        <p:txBody>
          <a:bodyPr wrap="square" anchor="ctr" lIns="54864" rIns="54864" tIns="27432" bIns="27432">
            <a:noAutofit/>
          </a:bodyPr>
          <a:lstStyle/>
          <a:p>
            <a:pPr algn="ctr">
              <a:lnSpc>
                <a:spcPct val="108000"/>
              </a:lnSpc>
            </a:pPr>
            <a:r>
              <a:rPr sz="2000" b="0">
                <a:solidFill>
                  <a:srgbClr val="5B6470"/>
                </a:solidFill>
                <a:latin typeface="Nanum Gothic"/>
                <a:ea typeface="Nanum Gothic"/>
                <a:cs typeface="Nanum Gothic"/>
              </a:rPr>
              <a:t>이미지 보관</a:t>
            </a:r>
          </a:p>
        </p:txBody>
      </p:sp>
      <p:sp>
        <p:nvSpPr>
          <p:cNvPr id="23" name="T:1:22:tag-초안 저장"/>
          <p:cNvSpPr txBox="1"/>
          <p:nvPr/>
        </p:nvSpPr>
        <p:spPr>
          <a:xfrm>
            <a:off x="6126480" y="5001768"/>
            <a:ext cx="1600200" cy="365760"/>
          </a:xfrm>
          <a:prstGeom prst="rect">
            <a:avLst/>
          </a:prstGeom>
          <a:noFill/>
        </p:spPr>
        <p:txBody>
          <a:bodyPr wrap="square" anchor="ctr" lIns="54864" rIns="54864" tIns="27432" bIns="27432">
            <a:noAutofit/>
          </a:bodyPr>
          <a:lstStyle/>
          <a:p>
            <a:pPr algn="ctr">
              <a:lnSpc>
                <a:spcPct val="108000"/>
              </a:lnSpc>
            </a:pPr>
            <a:r>
              <a:rPr sz="2000" b="0">
                <a:solidFill>
                  <a:srgbClr val="5B6470"/>
                </a:solidFill>
                <a:latin typeface="Nanum Gothic"/>
                <a:ea typeface="Nanum Gothic"/>
                <a:cs typeface="Nanum Gothic"/>
              </a:rPr>
              <a:t>초안 저장</a:t>
            </a:r>
          </a:p>
        </p:txBody>
      </p:sp>
      <p:sp>
        <p:nvSpPr>
          <p:cNvPr id="24" name="T:1:23:tag-재열람 결과"/>
          <p:cNvSpPr txBox="1"/>
          <p:nvPr/>
        </p:nvSpPr>
        <p:spPr>
          <a:xfrm>
            <a:off x="7955279" y="5001768"/>
            <a:ext cx="1600200" cy="365760"/>
          </a:xfrm>
          <a:prstGeom prst="rect">
            <a:avLst/>
          </a:prstGeom>
          <a:noFill/>
        </p:spPr>
        <p:txBody>
          <a:bodyPr wrap="square" anchor="ctr" lIns="54864" rIns="54864" tIns="27432" bIns="27432">
            <a:noAutofit/>
          </a:bodyPr>
          <a:lstStyle/>
          <a:p>
            <a:pPr algn="ctr">
              <a:lnSpc>
                <a:spcPct val="108000"/>
              </a:lnSpc>
            </a:pPr>
            <a:r>
              <a:rPr sz="2000" b="0">
                <a:solidFill>
                  <a:srgbClr val="5B6470"/>
                </a:solidFill>
                <a:latin typeface="Nanum Gothic"/>
                <a:ea typeface="Nanum Gothic"/>
                <a:cs typeface="Nanum Gothic"/>
              </a:rPr>
              <a:t>재열람 결과</a:t>
            </a:r>
          </a:p>
        </p:txBody>
      </p:sp>
      <p:sp>
        <p:nvSpPr>
          <p:cNvPr id="25" name="N:1:24:publish-out"/>
          <p:cNvSpPr/>
          <p:nvPr/>
        </p:nvSpPr>
        <p:spPr>
          <a:xfrm>
            <a:off x="9966960" y="3657600"/>
            <a:ext cx="1767535" cy="1234440"/>
          </a:xfrm>
          <a:prstGeom prst="roundRect">
            <a:avLst>
              <a:gd name="adj" fmla="val 6666"/>
            </a:avLst>
          </a:prstGeom>
          <a:noFill/>
          <a:ln w="15875">
            <a:solidFill>
              <a:srgbClr val="5B6470"/>
            </a:solidFill>
            <a:prstDash val="dash"/>
          </a:ln>
          <a:effectLst/>
        </p:spPr>
        <p:txBody>
          <a:bodyPr rtlCol="0" anchor="ctr" wrap="square" lIns="54864" rIns="54864" tIns="27432" bIns="27432">
            <a:noAutofit/>
          </a:bodyPr>
          <a:lstStyle/>
          <a:p>
            <a:pPr algn="ctr">
              <a:lnSpc>
                <a:spcPct val="108000"/>
              </a:lnSpc>
            </a:pPr>
            <a:r>
              <a:rPr sz="2000" b="0">
                <a:solidFill>
                  <a:srgbClr val="5B6470"/>
                </a:solidFill>
                <a:latin typeface="Nanum Gothic"/>
                <a:ea typeface="Nanum Gothic"/>
                <a:cs typeface="Nanum Gothic"/>
              </a:rPr>
              <a:t>공개 발행</a:t>
            </a:r>
          </a:p>
          <a:p>
            <a:pPr algn="ctr">
              <a:lnSpc>
                <a:spcPct val="108000"/>
              </a:lnSpc>
            </a:pPr>
            <a:r>
              <a:rPr sz="2000" b="0">
                <a:solidFill>
                  <a:srgbClr val="5B6470"/>
                </a:solidFill>
                <a:latin typeface="Nanum Gothic"/>
                <a:ea typeface="Nanum Gothic"/>
                <a:cs typeface="Nanum Gothic"/>
              </a:rPr>
              <a:t>범위 밖</a:t>
            </a:r>
          </a:p>
        </p:txBody>
      </p:sp>
      <p:sp>
        <p:nvSpPr>
          <p:cNvPr id="26" name="T:1:25:publish-tag"/>
          <p:cNvSpPr txBox="1"/>
          <p:nvPr/>
        </p:nvSpPr>
        <p:spPr>
          <a:xfrm>
            <a:off x="9966960" y="5001768"/>
            <a:ext cx="1767535" cy="365760"/>
          </a:xfrm>
          <a:prstGeom prst="rect">
            <a:avLst/>
          </a:prstGeom>
          <a:noFill/>
        </p:spPr>
        <p:txBody>
          <a:bodyPr wrap="square" anchor="ctr" lIns="54864" rIns="54864" tIns="27432" bIns="27432">
            <a:noAutofit/>
          </a:bodyPr>
          <a:lstStyle/>
          <a:p>
            <a:pPr algn="ctr">
              <a:lnSpc>
                <a:spcPct val="108000"/>
              </a:lnSpc>
            </a:pPr>
            <a:r>
              <a:rPr sz="2000" b="0">
                <a:solidFill>
                  <a:srgbClr val="5B6470"/>
                </a:solidFill>
                <a:latin typeface="Nanum Gothic"/>
                <a:ea typeface="Nanum Gothic"/>
                <a:cs typeface="Nanum Gothic"/>
              </a:rPr>
              <a:t>흐름에 없음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7F4"/>
        </a:solidFill>
        <a:effectLst/>
      </p:bgPr>
    </p:bg>
    <p:spTree>
      <p:nvGrpSpPr>
        <p:cNvPr id="1" name=""/>
        <p:cNvGrpSpPr/>
        <p:nvPr/>
      </p:nvGrpSpPr>
      <p:grpSpPr/>
      <p:sp>
        <p:nvSpPr>
          <p:cNvPr id="2" name="T:5:01:meta-left"/>
          <p:cNvSpPr txBox="1"/>
          <p:nvPr/>
        </p:nvSpPr>
        <p:spPr>
          <a:xfrm>
            <a:off x="457200" y="384048"/>
            <a:ext cx="5486400" cy="292608"/>
          </a:xfrm>
          <a:prstGeom prst="rect">
            <a:avLst/>
          </a:prstGeom>
          <a:noFill/>
        </p:spPr>
        <p:txBody>
          <a:bodyPr wrap="square" anchor="ctr" lIns="54864" rIns="54864" tIns="27432" bIns="27432">
            <a:noAutofit/>
          </a:bodyPr>
          <a:lstStyle/>
          <a:p>
            <a:pPr algn="l">
              <a:lnSpc>
                <a:spcPct val="108000"/>
              </a:lnSpc>
            </a:pPr>
            <a:r>
              <a:rPr sz="1600" b="1">
                <a:solidFill>
                  <a:srgbClr val="2B5FA8"/>
                </a:solidFill>
                <a:latin typeface="Nanum Gothic"/>
                <a:ea typeface="Nanum Gothic"/>
                <a:cs typeface="Nanum Gothic"/>
              </a:rPr>
              <a:t>S5</a:t>
            </a:r>
            <a:r>
              <a:rPr sz="1600" b="0">
                <a:solidFill>
                  <a:srgbClr val="5B6470"/>
                </a:solidFill>
                <a:latin typeface="Nanum Gothic"/>
                <a:ea typeface="Nanum Gothic"/>
                <a:cs typeface="Nanum Gothic"/>
              </a:rPr>
              <a:t>   용어   모델과 실행 틀</a:t>
            </a:r>
          </a:p>
        </p:txBody>
      </p:sp>
      <p:sp>
        <p:nvSpPr>
          <p:cNvPr id="3" name="T:5:02:meta-right"/>
          <p:cNvSpPr txBox="1"/>
          <p:nvPr/>
        </p:nvSpPr>
        <p:spPr>
          <a:xfrm>
            <a:off x="5943600" y="384048"/>
            <a:ext cx="5790895" cy="292608"/>
          </a:xfrm>
          <a:prstGeom prst="rect">
            <a:avLst/>
          </a:prstGeom>
          <a:noFill/>
        </p:spPr>
        <p:txBody>
          <a:bodyPr wrap="square" anchor="ctr" lIns="54864" rIns="54864" tIns="27432" bIns="27432">
            <a:noAutofit/>
          </a:bodyPr>
          <a:lstStyle/>
          <a:p>
            <a:pPr algn="r">
              <a:lnSpc>
                <a:spcPct val="108000"/>
              </a:lnSpc>
            </a:pPr>
            <a:r>
              <a:rPr sz="1600" b="0">
                <a:solidFill>
                  <a:srgbClr val="5B6470"/>
                </a:solidFill>
                <a:latin typeface="Nanum Gothic"/>
                <a:ea typeface="Nanum Gothic"/>
                <a:cs typeface="Nanum Gothic"/>
              </a:rPr>
              <a:t>원본 S5   11분부터 14분까지, 3분</a:t>
            </a:r>
          </a:p>
        </p:txBody>
      </p:sp>
      <p:sp>
        <p:nvSpPr>
          <p:cNvPr id="4" name="T:5:03:title"/>
          <p:cNvSpPr txBox="1"/>
          <p:nvPr/>
        </p:nvSpPr>
        <p:spPr>
          <a:xfrm>
            <a:off x="457200" y="713232"/>
            <a:ext cx="11277295" cy="603504"/>
          </a:xfrm>
          <a:prstGeom prst="rect">
            <a:avLst/>
          </a:prstGeom>
          <a:noFill/>
        </p:spPr>
        <p:txBody>
          <a:bodyPr wrap="square" anchor="t" lIns="54864" rIns="54864" tIns="27432" bIns="27432">
            <a:noAutofit/>
          </a:bodyPr>
          <a:lstStyle/>
          <a:p>
            <a:pPr algn="l">
              <a:lnSpc>
                <a:spcPct val="108000"/>
              </a:lnSpc>
            </a:pPr>
            <a:r>
              <a:rPr sz="3600" b="1">
                <a:solidFill>
                  <a:srgbClr val="1F2328"/>
                </a:solidFill>
                <a:latin typeface="Nanum Gothic"/>
                <a:ea typeface="Nanum Gothic"/>
                <a:cs typeface="Nanum Gothic"/>
              </a:rPr>
              <a:t>런타임</a:t>
            </a:r>
          </a:p>
        </p:txBody>
      </p:sp>
      <p:sp>
        <p:nvSpPr>
          <p:cNvPr id="5" name="B:5:04:question"/>
          <p:cNvSpPr/>
          <p:nvPr/>
        </p:nvSpPr>
        <p:spPr>
          <a:xfrm>
            <a:off x="457200" y="1426464"/>
            <a:ext cx="11277295" cy="548640"/>
          </a:xfrm>
          <a:prstGeom prst="rect">
            <a:avLst/>
          </a:prstGeom>
          <a:solidFill>
            <a:srgbClr val="E9ECF1"/>
          </a:solidFill>
          <a:ln>
            <a:noFill/>
          </a:ln>
          <a:effectLst/>
        </p:spPr>
        <p:txBody>
          <a:bodyPr rtlCol="0" anchor="ctr" wrap="square" lIns="274320" rIns="54864" tIns="27432" bIns="27432">
            <a:noAutofit/>
          </a:bodyPr>
          <a:lstStyle/>
          <a:p>
            <a:pPr algn="l">
              <a:lnSpc>
                <a:spcPct val="108000"/>
              </a:lnSpc>
            </a:pPr>
            <a:r>
              <a:rPr sz="2000" b="1">
                <a:solidFill>
                  <a:srgbClr val="2B5FA8"/>
                </a:solidFill>
                <a:latin typeface="Nanum Gothic"/>
                <a:ea typeface="Nanum Gothic"/>
                <a:cs typeface="Nanum Gothic"/>
              </a:rPr>
              <a:t>질문   </a:t>
            </a:r>
            <a:r>
              <a:rPr sz="2400" b="0">
                <a:solidFill>
                  <a:srgbClr val="1F2328"/>
                </a:solidFill>
                <a:latin typeface="Nanum Gothic"/>
                <a:ea typeface="Nanum Gothic"/>
                <a:cs typeface="Nanum Gothic"/>
              </a:rPr>
              <a:t>AI 모델이 파일을 직접 열까?</a:t>
            </a:r>
          </a:p>
        </p:txBody>
      </p:sp>
      <p:sp>
        <p:nvSpPr>
          <p:cNvPr id="6" name="B:5:05:question-accent"/>
          <p:cNvSpPr/>
          <p:nvPr/>
        </p:nvSpPr>
        <p:spPr>
          <a:xfrm>
            <a:off x="457200" y="1426464"/>
            <a:ext cx="73152" cy="548640"/>
          </a:xfrm>
          <a:prstGeom prst="rect">
            <a:avLst/>
          </a:prstGeom>
          <a:solidFill>
            <a:srgbClr val="2B5FA8"/>
          </a:solidFill>
          <a:ln>
            <a:noFill/>
          </a:ln>
          <a:effectLst/>
        </p:spPr>
        <p:txBody>
          <a:bodyPr rtlCol="0" anchor="ctr"/>
          <a:lstStyle/>
          <a:p>
            <a:pPr algn="ctr"/>
          </a:p>
        </p:txBody>
      </p:sp>
      <p:sp>
        <p:nvSpPr>
          <p:cNvPr id="7" name="T:5:06:lead"/>
          <p:cNvSpPr txBox="1"/>
          <p:nvPr/>
        </p:nvSpPr>
        <p:spPr>
          <a:xfrm>
            <a:off x="457200" y="2084832"/>
            <a:ext cx="11277295" cy="457200"/>
          </a:xfrm>
          <a:prstGeom prst="rect">
            <a:avLst/>
          </a:prstGeom>
          <a:noFill/>
        </p:spPr>
        <p:txBody>
          <a:bodyPr wrap="square" anchor="ctr" lIns="54864" rIns="54864" tIns="27432" bIns="27432">
            <a:noAutofit/>
          </a:bodyPr>
          <a:lstStyle/>
          <a:p>
            <a:pPr algn="l">
              <a:lnSpc>
                <a:spcPct val="108000"/>
              </a:lnSpc>
            </a:pPr>
            <a:r>
              <a:rPr sz="2000" b="1">
                <a:solidFill>
                  <a:srgbClr val="2B5FA8"/>
                </a:solidFill>
                <a:latin typeface="Nanum Gothic"/>
                <a:ea typeface="Nanum Gothic"/>
                <a:cs typeface="Nanum Gothic"/>
              </a:rPr>
              <a:t>정의   </a:t>
            </a:r>
            <a:r>
              <a:rPr sz="2400" b="1">
                <a:solidFill>
                  <a:srgbClr val="1F2328"/>
                </a:solidFill>
                <a:latin typeface="Nanum Gothic"/>
                <a:ea typeface="Nanum Gothic"/>
                <a:cs typeface="Nanum Gothic"/>
              </a:rPr>
              <a:t>모델은 요청만 만들고, 런타임이 실행해 결과를 돌려준다.</a:t>
            </a:r>
          </a:p>
        </p:txBody>
      </p:sp>
      <p:sp>
        <p:nvSpPr>
          <p:cNvPr id="8" name="T:5:07:footnote"/>
          <p:cNvSpPr txBox="1"/>
          <p:nvPr/>
        </p:nvSpPr>
        <p:spPr>
          <a:xfrm>
            <a:off x="457200" y="6108192"/>
            <a:ext cx="11277295" cy="347472"/>
          </a:xfrm>
          <a:prstGeom prst="rect">
            <a:avLst/>
          </a:prstGeom>
          <a:noFill/>
        </p:spPr>
        <p:txBody>
          <a:bodyPr wrap="square" anchor="ctr" lIns="54864" rIns="54864" tIns="27432" bIns="27432">
            <a:noAutofit/>
          </a:bodyPr>
          <a:lstStyle/>
          <a:p>
            <a:pPr algn="l">
              <a:lnSpc>
                <a:spcPct val="108000"/>
              </a:lnSpc>
            </a:pPr>
            <a:r>
              <a:rPr sz="1600" b="0">
                <a:solidFill>
                  <a:srgbClr val="5B6470"/>
                </a:solidFill>
                <a:latin typeface="Nanum Gothic"/>
                <a:ea typeface="Nanum Gothic"/>
                <a:cs typeface="Nanum Gothic"/>
              </a:rPr>
              <a:t>여기서 런타임은 Python이나 Node.js 같은 언어 실행 환경이 아니다. 흐름은 가상 예시다.</a:t>
            </a:r>
          </a:p>
        </p:txBody>
      </p:sp>
      <p:sp>
        <p:nvSpPr>
          <p:cNvPr id="9" name="B:5:08:lane-모델"/>
          <p:cNvSpPr/>
          <p:nvPr/>
        </p:nvSpPr>
        <p:spPr>
          <a:xfrm>
            <a:off x="457200" y="2724912"/>
            <a:ext cx="11277295" cy="1005840"/>
          </a:xfrm>
          <a:prstGeom prst="rect">
            <a:avLst/>
          </a:prstGeom>
          <a:solidFill>
            <a:srgbClr val="E9ECF1"/>
          </a:solidFill>
          <a:ln>
            <a:noFill/>
          </a:ln>
          <a:effectLst/>
        </p:spPr>
        <p:txBody>
          <a:bodyPr rtlCol="0" anchor="ctr"/>
          <a:lstStyle/>
          <a:p>
            <a:pPr algn="ctr"/>
          </a:p>
        </p:txBody>
      </p:sp>
      <p:sp>
        <p:nvSpPr>
          <p:cNvPr id="10" name="T:5:09:lane-label-모델"/>
          <p:cNvSpPr txBox="1"/>
          <p:nvPr/>
        </p:nvSpPr>
        <p:spPr>
          <a:xfrm>
            <a:off x="594360" y="2724912"/>
            <a:ext cx="1325880" cy="1005840"/>
          </a:xfrm>
          <a:prstGeom prst="rect">
            <a:avLst/>
          </a:prstGeom>
          <a:noFill/>
        </p:spPr>
        <p:txBody>
          <a:bodyPr wrap="square" anchor="ctr" lIns="54864" rIns="54864" tIns="27432" bIns="27432">
            <a:noAutofit/>
          </a:bodyPr>
          <a:lstStyle/>
          <a:p>
            <a:pPr algn="l">
              <a:lnSpc>
                <a:spcPct val="108000"/>
              </a:lnSpc>
            </a:pPr>
            <a:r>
              <a:rPr sz="2000" b="1">
                <a:solidFill>
                  <a:srgbClr val="1F2328"/>
                </a:solidFill>
                <a:latin typeface="Nanum Gothic"/>
                <a:ea typeface="Nanum Gothic"/>
                <a:cs typeface="Nanum Gothic"/>
              </a:rPr>
              <a:t>모델</a:t>
            </a:r>
          </a:p>
        </p:txBody>
      </p:sp>
      <p:sp>
        <p:nvSpPr>
          <p:cNvPr id="11" name="B:5:10:lane-런타임"/>
          <p:cNvSpPr/>
          <p:nvPr/>
        </p:nvSpPr>
        <p:spPr>
          <a:xfrm>
            <a:off x="457200" y="3822192"/>
            <a:ext cx="11277295" cy="1005840"/>
          </a:xfrm>
          <a:prstGeom prst="rect">
            <a:avLst/>
          </a:prstGeom>
          <a:solidFill>
            <a:srgbClr val="E7EEF8"/>
          </a:solidFill>
          <a:ln w="28575">
            <a:solidFill>
              <a:srgbClr val="2B5FA8"/>
            </a:solidFill>
          </a:ln>
          <a:effectLst/>
        </p:spPr>
        <p:txBody>
          <a:bodyPr rtlCol="0" anchor="ctr"/>
          <a:lstStyle/>
          <a:p>
            <a:pPr algn="ctr"/>
          </a:p>
        </p:txBody>
      </p:sp>
      <p:sp>
        <p:nvSpPr>
          <p:cNvPr id="12" name="T:5:11:lane-label-런타임"/>
          <p:cNvSpPr txBox="1"/>
          <p:nvPr/>
        </p:nvSpPr>
        <p:spPr>
          <a:xfrm>
            <a:off x="594360" y="3822192"/>
            <a:ext cx="1325880" cy="1005840"/>
          </a:xfrm>
          <a:prstGeom prst="rect">
            <a:avLst/>
          </a:prstGeom>
          <a:noFill/>
        </p:spPr>
        <p:txBody>
          <a:bodyPr wrap="square" anchor="ctr" lIns="54864" rIns="54864" tIns="27432" bIns="27432">
            <a:noAutofit/>
          </a:bodyPr>
          <a:lstStyle/>
          <a:p>
            <a:pPr algn="l">
              <a:lnSpc>
                <a:spcPct val="108000"/>
              </a:lnSpc>
            </a:pPr>
            <a:r>
              <a:rPr sz="2000" b="1">
                <a:solidFill>
                  <a:srgbClr val="2B5FA8"/>
                </a:solidFill>
                <a:latin typeface="Nanum Gothic"/>
                <a:ea typeface="Nanum Gothic"/>
                <a:cs typeface="Nanum Gothic"/>
              </a:rPr>
              <a:t>런타임</a:t>
            </a:r>
          </a:p>
        </p:txBody>
      </p:sp>
      <p:sp>
        <p:nvSpPr>
          <p:cNvPr id="13" name="B:5:12:lane-도구와&#10;파일"/>
          <p:cNvSpPr/>
          <p:nvPr/>
        </p:nvSpPr>
        <p:spPr>
          <a:xfrm>
            <a:off x="457200" y="4919472"/>
            <a:ext cx="11277295" cy="1005840"/>
          </a:xfrm>
          <a:prstGeom prst="rect">
            <a:avLst/>
          </a:prstGeom>
          <a:solidFill>
            <a:srgbClr val="E9ECF1"/>
          </a:solidFill>
          <a:ln>
            <a:noFill/>
          </a:ln>
          <a:effectLst/>
        </p:spPr>
        <p:txBody>
          <a:bodyPr rtlCol="0" anchor="ctr"/>
          <a:lstStyle/>
          <a:p>
            <a:pPr algn="ctr"/>
          </a:p>
        </p:txBody>
      </p:sp>
      <p:sp>
        <p:nvSpPr>
          <p:cNvPr id="14" name="T:5:13:lane-label-도구와&#10;파일"/>
          <p:cNvSpPr txBox="1"/>
          <p:nvPr/>
        </p:nvSpPr>
        <p:spPr>
          <a:xfrm>
            <a:off x="594360" y="4919472"/>
            <a:ext cx="1325880" cy="1005840"/>
          </a:xfrm>
          <a:prstGeom prst="rect">
            <a:avLst/>
          </a:prstGeom>
          <a:noFill/>
        </p:spPr>
        <p:txBody>
          <a:bodyPr wrap="square" anchor="ctr" lIns="54864" rIns="54864" tIns="27432" bIns="27432">
            <a:noAutofit/>
          </a:bodyPr>
          <a:lstStyle/>
          <a:p>
            <a:pPr algn="l">
              <a:lnSpc>
                <a:spcPct val="108000"/>
              </a:lnSpc>
            </a:pPr>
            <a:r>
              <a:rPr sz="2000" b="1">
                <a:solidFill>
                  <a:srgbClr val="1F2328"/>
                </a:solidFill>
                <a:latin typeface="Nanum Gothic"/>
                <a:ea typeface="Nanum Gothic"/>
                <a:cs typeface="Nanum Gothic"/>
              </a:rPr>
              <a:t>도구와</a:t>
            </a:r>
          </a:p>
          <a:p>
            <a:pPr algn="l">
              <a:lnSpc>
                <a:spcPct val="108000"/>
              </a:lnSpc>
            </a:pPr>
            <a:r>
              <a:rPr sz="2000" b="1">
                <a:solidFill>
                  <a:srgbClr val="1F2328"/>
                </a:solidFill>
                <a:latin typeface="Nanum Gothic"/>
                <a:ea typeface="Nanum Gothic"/>
                <a:cs typeface="Nanum Gothic"/>
              </a:rPr>
              <a:t>파일</a:t>
            </a:r>
          </a:p>
        </p:txBody>
      </p:sp>
      <p:sp>
        <p:nvSpPr>
          <p:cNvPr id="15" name="N:5:14:1. 요청"/>
          <p:cNvSpPr/>
          <p:nvPr/>
        </p:nvSpPr>
        <p:spPr>
          <a:xfrm>
            <a:off x="2011680" y="2852928"/>
            <a:ext cx="1344168" cy="749808"/>
          </a:xfrm>
          <a:prstGeom prst="roundRect">
            <a:avLst>
              <a:gd name="adj" fmla="val 10975"/>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1. 요청</a:t>
            </a:r>
          </a:p>
          <a:p>
            <a:pPr algn="ctr">
              <a:lnSpc>
                <a:spcPct val="108000"/>
              </a:lnSpc>
            </a:pPr>
            <a:r>
              <a:rPr sz="2000" b="0">
                <a:solidFill>
                  <a:srgbClr val="1F2328"/>
                </a:solidFill>
                <a:latin typeface="Nanum Gothic"/>
                <a:ea typeface="Nanum Gothic"/>
                <a:cs typeface="Nanum Gothic"/>
              </a:rPr>
              <a:t>read_file</a:t>
            </a:r>
          </a:p>
        </p:txBody>
      </p:sp>
      <p:sp>
        <p:nvSpPr>
          <p:cNvPr id="16" name="N:5:15:2. 권한"/>
          <p:cNvSpPr/>
          <p:nvPr/>
        </p:nvSpPr>
        <p:spPr>
          <a:xfrm>
            <a:off x="3630168" y="3950208"/>
            <a:ext cx="1344168" cy="749808"/>
          </a:xfrm>
          <a:prstGeom prst="roundRect">
            <a:avLst>
              <a:gd name="adj" fmla="val 10975"/>
            </a:avLst>
          </a:prstGeom>
          <a:solidFill>
            <a:srgbClr val="E7EEF8"/>
          </a:solidFill>
          <a:ln w="28575">
            <a:solidFill>
              <a:srgbClr val="2B5FA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2. 권한</a:t>
            </a:r>
          </a:p>
          <a:p>
            <a:pPr algn="ctr">
              <a:lnSpc>
                <a:spcPct val="108000"/>
              </a:lnSpc>
            </a:pPr>
            <a:r>
              <a:rPr sz="2000" b="0">
                <a:solidFill>
                  <a:srgbClr val="1F2328"/>
                </a:solidFill>
                <a:latin typeface="Nanum Gothic"/>
                <a:ea typeface="Nanum Gothic"/>
                <a:cs typeface="Nanum Gothic"/>
              </a:rPr>
              <a:t>확인</a:t>
            </a:r>
          </a:p>
        </p:txBody>
      </p:sp>
      <p:sp>
        <p:nvSpPr>
          <p:cNvPr id="17" name="N:5:16:3. 도구"/>
          <p:cNvSpPr/>
          <p:nvPr/>
        </p:nvSpPr>
        <p:spPr>
          <a:xfrm>
            <a:off x="5248656" y="3950208"/>
            <a:ext cx="1344168" cy="749808"/>
          </a:xfrm>
          <a:prstGeom prst="roundRect">
            <a:avLst>
              <a:gd name="adj" fmla="val 10975"/>
            </a:avLst>
          </a:prstGeom>
          <a:solidFill>
            <a:srgbClr val="E7EEF8"/>
          </a:solidFill>
          <a:ln w="28575">
            <a:solidFill>
              <a:srgbClr val="2B5FA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3. 도구</a:t>
            </a:r>
          </a:p>
          <a:p>
            <a:pPr algn="ctr">
              <a:lnSpc>
                <a:spcPct val="108000"/>
              </a:lnSpc>
            </a:pPr>
            <a:r>
              <a:rPr sz="2000" b="0">
                <a:solidFill>
                  <a:srgbClr val="1F2328"/>
                </a:solidFill>
                <a:latin typeface="Nanum Gothic"/>
                <a:ea typeface="Nanum Gothic"/>
                <a:cs typeface="Nanum Gothic"/>
              </a:rPr>
              <a:t>호출</a:t>
            </a:r>
          </a:p>
        </p:txBody>
      </p:sp>
      <p:sp>
        <p:nvSpPr>
          <p:cNvPr id="18" name="N:5:17:4. 파일"/>
          <p:cNvSpPr/>
          <p:nvPr/>
        </p:nvSpPr>
        <p:spPr>
          <a:xfrm>
            <a:off x="6867144" y="5047488"/>
            <a:ext cx="1344168" cy="749808"/>
          </a:xfrm>
          <a:prstGeom prst="roundRect">
            <a:avLst>
              <a:gd name="adj" fmla="val 10975"/>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4. 파일</a:t>
            </a:r>
          </a:p>
          <a:p>
            <a:pPr algn="ctr">
              <a:lnSpc>
                <a:spcPct val="108000"/>
              </a:lnSpc>
            </a:pPr>
            <a:r>
              <a:rPr sz="2000" b="0">
                <a:solidFill>
                  <a:srgbClr val="1F2328"/>
                </a:solidFill>
                <a:latin typeface="Nanum Gothic"/>
                <a:ea typeface="Nanum Gothic"/>
                <a:cs typeface="Nanum Gothic"/>
              </a:rPr>
              <a:t>읽기</a:t>
            </a:r>
          </a:p>
        </p:txBody>
      </p:sp>
      <p:sp>
        <p:nvSpPr>
          <p:cNvPr id="19" name="N:5:18:5. 결과"/>
          <p:cNvSpPr/>
          <p:nvPr/>
        </p:nvSpPr>
        <p:spPr>
          <a:xfrm>
            <a:off x="8485632" y="3950208"/>
            <a:ext cx="1344168" cy="749808"/>
          </a:xfrm>
          <a:prstGeom prst="roundRect">
            <a:avLst>
              <a:gd name="adj" fmla="val 10975"/>
            </a:avLst>
          </a:prstGeom>
          <a:solidFill>
            <a:srgbClr val="E7EEF8"/>
          </a:solidFill>
          <a:ln w="28575">
            <a:solidFill>
              <a:srgbClr val="2B5FA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5. 결과</a:t>
            </a:r>
          </a:p>
          <a:p>
            <a:pPr algn="ctr">
              <a:lnSpc>
                <a:spcPct val="108000"/>
              </a:lnSpc>
            </a:pPr>
            <a:r>
              <a:rPr sz="2000" b="0">
                <a:solidFill>
                  <a:srgbClr val="1F2328"/>
                </a:solidFill>
                <a:latin typeface="Nanum Gothic"/>
                <a:ea typeface="Nanum Gothic"/>
                <a:cs typeface="Nanum Gothic"/>
              </a:rPr>
              <a:t>정리</a:t>
            </a:r>
          </a:p>
        </p:txBody>
      </p:sp>
      <p:sp>
        <p:nvSpPr>
          <p:cNvPr id="20" name="N:5:19:6. 다음"/>
          <p:cNvSpPr/>
          <p:nvPr/>
        </p:nvSpPr>
        <p:spPr>
          <a:xfrm>
            <a:off x="10104120" y="2852928"/>
            <a:ext cx="1344168" cy="749808"/>
          </a:xfrm>
          <a:prstGeom prst="roundRect">
            <a:avLst>
              <a:gd name="adj" fmla="val 10975"/>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6. 다음</a:t>
            </a:r>
          </a:p>
          <a:p>
            <a:pPr algn="ctr">
              <a:lnSpc>
                <a:spcPct val="108000"/>
              </a:lnSpc>
            </a:pPr>
            <a:r>
              <a:rPr sz="2000" b="0">
                <a:solidFill>
                  <a:srgbClr val="1F2328"/>
                </a:solidFill>
                <a:latin typeface="Nanum Gothic"/>
                <a:ea typeface="Nanum Gothic"/>
                <a:cs typeface="Nanum Gothic"/>
              </a:rPr>
              <a:t>판단</a:t>
            </a:r>
          </a:p>
        </p:txBody>
      </p:sp>
      <p:cxnSp>
        <p:nvCxnSpPr>
          <p:cNvPr id="21" name="L:5:20:1. 요청-&gt;2. 권한"/>
          <p:cNvCxnSpPr>
            <a:stCxn id="15" idx="3"/>
            <a:endCxn id="16" idx="1"/>
          </p:cNvCxnSpPr>
          <p:nvPr/>
        </p:nvCxnSpPr>
        <p:spPr>
          <a:xfrm>
            <a:off x="3355848" y="3227832"/>
            <a:ext cx="274320" cy="1097280"/>
          </a:xfrm>
          <a:prstGeom prst="bentConnector3">
            <a:avLst/>
          </a:prstGeom>
          <a:ln w="19050">
            <a:solidFill>
              <a:srgbClr val="1F2328"/>
            </a:solidFill>
            <a:tailEnd type="triangle" w="med" len="med"/>
          </a:ln>
        </p:spPr>
      </p:cxnSp>
      <p:cxnSp>
        <p:nvCxnSpPr>
          <p:cNvPr id="22" name="L:5:21:2. 권한-&gt;3. 도구"/>
          <p:cNvCxnSpPr>
            <a:stCxn id="16" idx="3"/>
            <a:endCxn id="17" idx="1"/>
          </p:cNvCxnSpPr>
          <p:nvPr/>
        </p:nvCxnSpPr>
        <p:spPr>
          <a:xfrm flipV="1">
            <a:off x="4974336" y="4325112"/>
            <a:ext cx="274320" cy="0"/>
          </a:xfrm>
          <a:prstGeom prst="line">
            <a:avLst/>
          </a:prstGeom>
          <a:ln w="19050">
            <a:solidFill>
              <a:srgbClr val="1F2328"/>
            </a:solidFill>
            <a:tailEnd type="triangle" w="med" len="med"/>
          </a:ln>
        </p:spPr>
      </p:cxnSp>
      <p:cxnSp>
        <p:nvCxnSpPr>
          <p:cNvPr id="23" name="L:5:22:3. 도구-&gt;4. 파일"/>
          <p:cNvCxnSpPr>
            <a:stCxn id="17" idx="3"/>
            <a:endCxn id="18" idx="1"/>
          </p:cNvCxnSpPr>
          <p:nvPr/>
        </p:nvCxnSpPr>
        <p:spPr>
          <a:xfrm>
            <a:off x="6592824" y="4325112"/>
            <a:ext cx="274320" cy="1097280"/>
          </a:xfrm>
          <a:prstGeom prst="bentConnector3">
            <a:avLst/>
          </a:prstGeom>
          <a:ln w="19050">
            <a:solidFill>
              <a:srgbClr val="1F2328"/>
            </a:solidFill>
            <a:tailEnd type="triangle" w="med" len="med"/>
          </a:ln>
        </p:spPr>
      </p:cxnSp>
      <p:cxnSp>
        <p:nvCxnSpPr>
          <p:cNvPr id="24" name="L:5:23:4. 파일-&gt;5. 결과"/>
          <p:cNvCxnSpPr>
            <a:stCxn id="18" idx="3"/>
            <a:endCxn id="19" idx="1"/>
          </p:cNvCxnSpPr>
          <p:nvPr/>
        </p:nvCxnSpPr>
        <p:spPr>
          <a:xfrm flipV="1">
            <a:off x="8211312" y="4325112"/>
            <a:ext cx="274320" cy="1097280"/>
          </a:xfrm>
          <a:prstGeom prst="bentConnector3">
            <a:avLst/>
          </a:prstGeom>
          <a:ln w="19050">
            <a:solidFill>
              <a:srgbClr val="1F2328"/>
            </a:solidFill>
            <a:tailEnd type="triangle" w="med" len="med"/>
          </a:ln>
        </p:spPr>
      </p:cxnSp>
      <p:cxnSp>
        <p:nvCxnSpPr>
          <p:cNvPr id="25" name="L:5:24:5. 결과-&gt;6. 다음"/>
          <p:cNvCxnSpPr>
            <a:stCxn id="19" idx="3"/>
            <a:endCxn id="20" idx="1"/>
          </p:cNvCxnSpPr>
          <p:nvPr/>
        </p:nvCxnSpPr>
        <p:spPr>
          <a:xfrm flipV="1">
            <a:off x="9829800" y="3227832"/>
            <a:ext cx="274320" cy="1097280"/>
          </a:xfrm>
          <a:prstGeom prst="bentConnector3">
            <a:avLst/>
          </a:prstGeom>
          <a:ln w="19050">
            <a:solidFill>
              <a:srgbClr val="1F2328"/>
            </a:solidFill>
            <a:tailEnd type="triangle" w="med" len="med"/>
          </a:ln>
        </p:spPr>
      </p:cxnSp>
      <p:sp>
        <p:nvSpPr>
          <p:cNvPr id="26" name="N:5:25:note-model"/>
          <p:cNvSpPr/>
          <p:nvPr/>
        </p:nvSpPr>
        <p:spPr>
          <a:xfrm>
            <a:off x="3840480" y="2953512"/>
            <a:ext cx="5760720" cy="548640"/>
          </a:xfrm>
          <a:prstGeom prst="roundRect">
            <a:avLst>
              <a:gd name="adj" fmla="val 15000"/>
            </a:avLst>
          </a:prstGeom>
          <a:noFill/>
          <a:ln w="12700">
            <a:solidFill>
              <a:srgbClr val="5B6470"/>
            </a:solidFill>
            <a:prstDash val="dash"/>
          </a:ln>
          <a:effectLst/>
        </p:spPr>
        <p:txBody>
          <a:bodyPr rtlCol="0" anchor="ctr" wrap="square" lIns="54864" rIns="54864" tIns="27432" bIns="27432">
            <a:noAutofit/>
          </a:bodyPr>
          <a:lstStyle/>
          <a:p>
            <a:pPr algn="ctr">
              <a:lnSpc>
                <a:spcPct val="108000"/>
              </a:lnSpc>
            </a:pPr>
            <a:r>
              <a:rPr sz="2000" b="0">
                <a:solidFill>
                  <a:srgbClr val="5B6470"/>
                </a:solidFill>
                <a:latin typeface="Nanum Gothic"/>
                <a:ea typeface="Nanum Gothic"/>
                <a:cs typeface="Nanum Gothic"/>
              </a:rPr>
              <a:t>모델 쪽에서는 파일이 열리지 않는다</a:t>
            </a:r>
          </a:p>
        </p:txBody>
      </p:sp>
      <p:sp>
        <p:nvSpPr>
          <p:cNvPr id="27" name="N:5:26:note-error"/>
          <p:cNvSpPr/>
          <p:nvPr/>
        </p:nvSpPr>
        <p:spPr>
          <a:xfrm>
            <a:off x="8641080" y="5029200"/>
            <a:ext cx="2926080" cy="786384"/>
          </a:xfrm>
          <a:prstGeom prst="roundRect">
            <a:avLst>
              <a:gd name="adj" fmla="val 10465"/>
            </a:avLst>
          </a:prstGeom>
          <a:noFill/>
          <a:ln w="12700">
            <a:solidFill>
              <a:srgbClr val="5B6470"/>
            </a:solidFill>
            <a:prstDash val="dash"/>
          </a:ln>
          <a:effectLst/>
        </p:spPr>
        <p:txBody>
          <a:bodyPr rtlCol="0" anchor="ctr" wrap="square" lIns="54864" rIns="54864" tIns="27432" bIns="27432">
            <a:noAutofit/>
          </a:bodyPr>
          <a:lstStyle/>
          <a:p>
            <a:pPr algn="ctr">
              <a:lnSpc>
                <a:spcPct val="108000"/>
              </a:lnSpc>
            </a:pPr>
            <a:r>
              <a:rPr sz="2000" b="0">
                <a:solidFill>
                  <a:srgbClr val="5B6470"/>
                </a:solidFill>
                <a:latin typeface="Nanum Gothic"/>
                <a:ea typeface="Nanum Gothic"/>
                <a:cs typeface="Nanum Gothic"/>
              </a:rPr>
              <a:t>오류(파일 없음)도</a:t>
            </a:r>
          </a:p>
          <a:p>
            <a:pPr algn="ctr">
              <a:lnSpc>
                <a:spcPct val="108000"/>
              </a:lnSpc>
            </a:pPr>
            <a:r>
              <a:rPr sz="2000" b="0">
                <a:solidFill>
                  <a:srgbClr val="5B6470"/>
                </a:solidFill>
                <a:latin typeface="Nanum Gothic"/>
                <a:ea typeface="Nanum Gothic"/>
                <a:cs typeface="Nanum Gothic"/>
              </a:rPr>
              <a:t>같은 길로 돌아온다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7F4"/>
        </a:solidFill>
        <a:effectLst/>
      </p:bgPr>
    </p:bg>
    <p:spTree>
      <p:nvGrpSpPr>
        <p:cNvPr id="1" name=""/>
        <p:cNvGrpSpPr/>
        <p:nvPr/>
      </p:nvGrpSpPr>
      <p:grpSpPr/>
      <p:sp>
        <p:nvSpPr>
          <p:cNvPr id="2" name="T:11:01:meta-left"/>
          <p:cNvSpPr txBox="1"/>
          <p:nvPr/>
        </p:nvSpPr>
        <p:spPr>
          <a:xfrm>
            <a:off x="457200" y="384048"/>
            <a:ext cx="5486400" cy="292608"/>
          </a:xfrm>
          <a:prstGeom prst="rect">
            <a:avLst/>
          </a:prstGeom>
          <a:noFill/>
        </p:spPr>
        <p:txBody>
          <a:bodyPr wrap="square" anchor="ctr" lIns="54864" rIns="54864" tIns="27432" bIns="27432">
            <a:noAutofit/>
          </a:bodyPr>
          <a:lstStyle/>
          <a:p>
            <a:pPr algn="l">
              <a:lnSpc>
                <a:spcPct val="108000"/>
              </a:lnSpc>
            </a:pPr>
            <a:r>
              <a:rPr sz="1600" b="1">
                <a:solidFill>
                  <a:srgbClr val="2B5FA8"/>
                </a:solidFill>
                <a:latin typeface="Nanum Gothic"/>
                <a:ea typeface="Nanum Gothic"/>
                <a:cs typeface="Nanum Gothic"/>
              </a:rPr>
              <a:t>S11</a:t>
            </a:r>
            <a:r>
              <a:rPr sz="1600" b="0">
                <a:solidFill>
                  <a:srgbClr val="5B6470"/>
                </a:solidFill>
                <a:latin typeface="Nanum Gothic"/>
                <a:ea typeface="Nanum Gothic"/>
                <a:cs typeface="Nanum Gothic"/>
              </a:rPr>
              <a:t>   사례   OMH</a:t>
            </a:r>
          </a:p>
        </p:txBody>
      </p:sp>
      <p:sp>
        <p:nvSpPr>
          <p:cNvPr id="3" name="T:11:02:meta-right"/>
          <p:cNvSpPr txBox="1"/>
          <p:nvPr/>
        </p:nvSpPr>
        <p:spPr>
          <a:xfrm>
            <a:off x="5943600" y="384048"/>
            <a:ext cx="5790895" cy="292608"/>
          </a:xfrm>
          <a:prstGeom prst="rect">
            <a:avLst/>
          </a:prstGeom>
          <a:noFill/>
        </p:spPr>
        <p:txBody>
          <a:bodyPr wrap="square" anchor="ctr" lIns="54864" rIns="54864" tIns="27432" bIns="27432">
            <a:noAutofit/>
          </a:bodyPr>
          <a:lstStyle/>
          <a:p>
            <a:pPr algn="r">
              <a:lnSpc>
                <a:spcPct val="108000"/>
              </a:lnSpc>
            </a:pPr>
            <a:r>
              <a:rPr sz="1600" b="0">
                <a:solidFill>
                  <a:srgbClr val="5B6470"/>
                </a:solidFill>
                <a:latin typeface="Nanum Gothic"/>
                <a:ea typeface="Nanum Gothic"/>
                <a:cs typeface="Nanum Gothic"/>
              </a:rPr>
              <a:t>원본 S11   31분부터 36분까지, 5분</a:t>
            </a:r>
          </a:p>
        </p:txBody>
      </p:sp>
      <p:sp>
        <p:nvSpPr>
          <p:cNvPr id="4" name="T:11:03:title"/>
          <p:cNvSpPr txBox="1"/>
          <p:nvPr/>
        </p:nvSpPr>
        <p:spPr>
          <a:xfrm>
            <a:off x="457200" y="713232"/>
            <a:ext cx="11277295" cy="603504"/>
          </a:xfrm>
          <a:prstGeom prst="rect">
            <a:avLst/>
          </a:prstGeom>
          <a:noFill/>
        </p:spPr>
        <p:txBody>
          <a:bodyPr wrap="square" anchor="t" lIns="54864" rIns="54864" tIns="27432" bIns="27432">
            <a:noAutofit/>
          </a:bodyPr>
          <a:lstStyle/>
          <a:p>
            <a:pPr algn="l">
              <a:lnSpc>
                <a:spcPct val="108000"/>
              </a:lnSpc>
            </a:pPr>
            <a:r>
              <a:rPr sz="3600" b="1">
                <a:solidFill>
                  <a:srgbClr val="1F2328"/>
                </a:solidFill>
                <a:latin typeface="Nanum Gothic"/>
                <a:ea typeface="Nanum Gothic"/>
                <a:cs typeface="Nanum Gothic"/>
              </a:rPr>
              <a:t>OMH 사례: 모델을 바꾸지 않고 틀을 바꾼 이유</a:t>
            </a:r>
          </a:p>
        </p:txBody>
      </p:sp>
      <p:sp>
        <p:nvSpPr>
          <p:cNvPr id="5" name="B:11:04:question"/>
          <p:cNvSpPr/>
          <p:nvPr/>
        </p:nvSpPr>
        <p:spPr>
          <a:xfrm>
            <a:off x="457200" y="1426464"/>
            <a:ext cx="11277295" cy="548640"/>
          </a:xfrm>
          <a:prstGeom prst="rect">
            <a:avLst/>
          </a:prstGeom>
          <a:solidFill>
            <a:srgbClr val="E9ECF1"/>
          </a:solidFill>
          <a:ln>
            <a:noFill/>
          </a:ln>
          <a:effectLst/>
        </p:spPr>
        <p:txBody>
          <a:bodyPr rtlCol="0" anchor="ctr" wrap="square" lIns="274320" rIns="54864" tIns="27432" bIns="27432">
            <a:noAutofit/>
          </a:bodyPr>
          <a:lstStyle/>
          <a:p>
            <a:pPr algn="l">
              <a:lnSpc>
                <a:spcPct val="108000"/>
              </a:lnSpc>
            </a:pPr>
            <a:r>
              <a:rPr sz="2000" b="1">
                <a:solidFill>
                  <a:srgbClr val="2B5FA8"/>
                </a:solidFill>
                <a:latin typeface="Nanum Gothic"/>
                <a:ea typeface="Nanum Gothic"/>
                <a:cs typeface="Nanum Gothic"/>
              </a:rPr>
              <a:t>질문   </a:t>
            </a:r>
            <a:r>
              <a:rPr sz="2400" b="0">
                <a:solidFill>
                  <a:srgbClr val="1F2328"/>
                </a:solidFill>
                <a:latin typeface="Nanum Gothic"/>
                <a:ea typeface="Nanum Gothic"/>
                <a:cs typeface="Nanum Gothic"/>
              </a:rPr>
              <a:t>모델만 더 좋은 것으로 바꾸면 이 일이 해결될까?</a:t>
            </a:r>
          </a:p>
        </p:txBody>
      </p:sp>
      <p:sp>
        <p:nvSpPr>
          <p:cNvPr id="6" name="B:11:05:question-accent"/>
          <p:cNvSpPr/>
          <p:nvPr/>
        </p:nvSpPr>
        <p:spPr>
          <a:xfrm>
            <a:off x="457200" y="1426464"/>
            <a:ext cx="73152" cy="548640"/>
          </a:xfrm>
          <a:prstGeom prst="rect">
            <a:avLst/>
          </a:prstGeom>
          <a:solidFill>
            <a:srgbClr val="2B5FA8"/>
          </a:solidFill>
          <a:ln>
            <a:noFill/>
          </a:ln>
          <a:effectLst/>
        </p:spPr>
        <p:txBody>
          <a:bodyPr rtlCol="0" anchor="ctr"/>
          <a:lstStyle/>
          <a:p>
            <a:pPr algn="ctr"/>
          </a:p>
        </p:txBody>
      </p:sp>
      <p:sp>
        <p:nvSpPr>
          <p:cNvPr id="7" name="T:11:06:lead"/>
          <p:cNvSpPr txBox="1"/>
          <p:nvPr/>
        </p:nvSpPr>
        <p:spPr>
          <a:xfrm>
            <a:off x="457200" y="2084832"/>
            <a:ext cx="11277295" cy="457200"/>
          </a:xfrm>
          <a:prstGeom prst="rect">
            <a:avLst/>
          </a:prstGeom>
          <a:noFill/>
        </p:spPr>
        <p:txBody>
          <a:bodyPr wrap="square" anchor="ctr" lIns="54864" rIns="54864" tIns="27432" bIns="27432">
            <a:noAutofit/>
          </a:bodyPr>
          <a:lstStyle/>
          <a:p>
            <a:pPr algn="l">
              <a:lnSpc>
                <a:spcPct val="108000"/>
              </a:lnSpc>
            </a:pPr>
            <a:r>
              <a:rPr sz="2000" b="1">
                <a:solidFill>
                  <a:srgbClr val="2B5FA8"/>
                </a:solidFill>
                <a:latin typeface="Nanum Gothic"/>
                <a:ea typeface="Nanum Gothic"/>
                <a:cs typeface="Nanum Gothic"/>
              </a:rPr>
              <a:t>핵심   </a:t>
            </a:r>
            <a:r>
              <a:rPr sz="2400" b="1">
                <a:solidFill>
                  <a:srgbClr val="1F2328"/>
                </a:solidFill>
                <a:latin typeface="Nanum Gothic"/>
                <a:ea typeface="Nanum Gothic"/>
                <a:cs typeface="Nanum Gothic"/>
              </a:rPr>
              <a:t>기존 모델과 역할은 유지하고, 업무 도구와 작업 절차를 보강했다.</a:t>
            </a:r>
          </a:p>
        </p:txBody>
      </p:sp>
      <p:sp>
        <p:nvSpPr>
          <p:cNvPr id="8" name="T:11:07:footnote"/>
          <p:cNvSpPr txBox="1"/>
          <p:nvPr/>
        </p:nvSpPr>
        <p:spPr>
          <a:xfrm>
            <a:off x="457200" y="6108192"/>
            <a:ext cx="11277295" cy="347472"/>
          </a:xfrm>
          <a:prstGeom prst="rect">
            <a:avLst/>
          </a:prstGeom>
          <a:noFill/>
        </p:spPr>
        <p:txBody>
          <a:bodyPr wrap="square" anchor="ctr" lIns="54864" rIns="54864" tIns="27432" bIns="27432">
            <a:noAutofit/>
          </a:bodyPr>
          <a:lstStyle/>
          <a:p>
            <a:pPr algn="l">
              <a:lnSpc>
                <a:spcPct val="108000"/>
              </a:lnSpc>
            </a:pPr>
            <a:r>
              <a:rPr sz="1600" b="0">
                <a:solidFill>
                  <a:srgbClr val="5B6470"/>
                </a:solidFill>
                <a:latin typeface="Nanum Gothic"/>
                <a:ea typeface="Nanum Gothic"/>
                <a:cs typeface="Nanum Gothic"/>
              </a:rPr>
              <a:t>모의, 오프라인 점검은 실제 사내 모델 품질을 보여 주지 않는다. CSV 흐름은 가상 예시다.</a:t>
            </a:r>
          </a:p>
        </p:txBody>
      </p:sp>
      <p:sp>
        <p:nvSpPr>
          <p:cNvPr id="9" name="T:11:08:head-실제 제약"/>
          <p:cNvSpPr txBox="1"/>
          <p:nvPr/>
        </p:nvSpPr>
        <p:spPr>
          <a:xfrm>
            <a:off x="457200" y="2724912"/>
            <a:ext cx="2148840" cy="365760"/>
          </a:xfrm>
          <a:prstGeom prst="rect">
            <a:avLst/>
          </a:prstGeom>
          <a:noFill/>
        </p:spPr>
        <p:txBody>
          <a:bodyPr wrap="square" anchor="ctr" lIns="54864" rIns="54864" tIns="27432" bIns="27432">
            <a:noAutofit/>
          </a:bodyPr>
          <a:lstStyle/>
          <a:p>
            <a:pPr algn="l">
              <a:lnSpc>
                <a:spcPct val="108000"/>
              </a:lnSpc>
            </a:pPr>
            <a:r>
              <a:rPr sz="2000" b="1">
                <a:solidFill>
                  <a:srgbClr val="1F2328"/>
                </a:solidFill>
                <a:latin typeface="Nanum Gothic"/>
                <a:ea typeface="Nanum Gothic"/>
                <a:cs typeface="Nanum Gothic"/>
              </a:rPr>
              <a:t>실제 제약</a:t>
            </a:r>
          </a:p>
        </p:txBody>
      </p:sp>
      <p:sp>
        <p:nvSpPr>
          <p:cNvPr id="10" name="T:11:09:head-기반은 유지, 도구와 절차는 보강"/>
          <p:cNvSpPr txBox="1"/>
          <p:nvPr/>
        </p:nvSpPr>
        <p:spPr>
          <a:xfrm>
            <a:off x="2926080" y="2724912"/>
            <a:ext cx="6035040" cy="365760"/>
          </a:xfrm>
          <a:prstGeom prst="rect">
            <a:avLst/>
          </a:prstGeom>
          <a:noFill/>
        </p:spPr>
        <p:txBody>
          <a:bodyPr wrap="square" anchor="ctr" lIns="54864" rIns="54864" tIns="27432" bIns="27432">
            <a:noAutofit/>
          </a:bodyPr>
          <a:lstStyle/>
          <a:p>
            <a:pPr algn="l">
              <a:lnSpc>
                <a:spcPct val="108000"/>
              </a:lnSpc>
            </a:pPr>
            <a:r>
              <a:rPr sz="2000" b="1">
                <a:solidFill>
                  <a:srgbClr val="1F2328"/>
                </a:solidFill>
                <a:latin typeface="Nanum Gothic"/>
                <a:ea typeface="Nanum Gothic"/>
                <a:cs typeface="Nanum Gothic"/>
              </a:rPr>
              <a:t>기반은 유지, 도구와 절차는 보강</a:t>
            </a:r>
          </a:p>
        </p:txBody>
      </p:sp>
      <p:sp>
        <p:nvSpPr>
          <p:cNvPr id="11" name="T:11:10:head-증거와 한계"/>
          <p:cNvSpPr txBox="1"/>
          <p:nvPr/>
        </p:nvSpPr>
        <p:spPr>
          <a:xfrm>
            <a:off x="9281160" y="2724912"/>
            <a:ext cx="2453335" cy="365760"/>
          </a:xfrm>
          <a:prstGeom prst="rect">
            <a:avLst/>
          </a:prstGeom>
          <a:noFill/>
        </p:spPr>
        <p:txBody>
          <a:bodyPr wrap="square" anchor="ctr" lIns="54864" rIns="54864" tIns="27432" bIns="27432">
            <a:noAutofit/>
          </a:bodyPr>
          <a:lstStyle/>
          <a:p>
            <a:pPr algn="l">
              <a:lnSpc>
                <a:spcPct val="108000"/>
              </a:lnSpc>
            </a:pPr>
            <a:r>
              <a:rPr sz="2000" b="1">
                <a:solidFill>
                  <a:srgbClr val="1F2328"/>
                </a:solidFill>
                <a:latin typeface="Nanum Gothic"/>
                <a:ea typeface="Nanum Gothic"/>
                <a:cs typeface="Nanum Gothic"/>
              </a:rPr>
              <a:t>증거와 한계</a:t>
            </a:r>
          </a:p>
        </p:txBody>
      </p:sp>
      <p:sp>
        <p:nvSpPr>
          <p:cNvPr id="12" name="N:11:11:오프라인 설치만"/>
          <p:cNvSpPr/>
          <p:nvPr/>
        </p:nvSpPr>
        <p:spPr>
          <a:xfrm>
            <a:off x="457200" y="3182112"/>
            <a:ext cx="2148840" cy="548640"/>
          </a:xfrm>
          <a:prstGeom prst="roundRect">
            <a:avLst>
              <a:gd name="adj" fmla="val 15000"/>
            </a:avLst>
          </a:prstGeom>
          <a:solidFill>
            <a:srgbClr val="E9ECF1"/>
          </a:solidFill>
          <a:ln>
            <a:no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오프라인 설치만</a:t>
            </a:r>
          </a:p>
        </p:txBody>
      </p:sp>
      <p:sp>
        <p:nvSpPr>
          <p:cNvPr id="13" name="N:11:12:로컬 파일만"/>
          <p:cNvSpPr/>
          <p:nvPr/>
        </p:nvSpPr>
        <p:spPr>
          <a:xfrm>
            <a:off x="457200" y="3867912"/>
            <a:ext cx="2148840" cy="548640"/>
          </a:xfrm>
          <a:prstGeom prst="roundRect">
            <a:avLst>
              <a:gd name="adj" fmla="val 15000"/>
            </a:avLst>
          </a:prstGeom>
          <a:solidFill>
            <a:srgbClr val="E9ECF1"/>
          </a:solidFill>
          <a:ln>
            <a:no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로컬 파일만</a:t>
            </a:r>
          </a:p>
        </p:txBody>
      </p:sp>
      <p:sp>
        <p:nvSpPr>
          <p:cNvPr id="14" name="N:11:13:설정된 모델 하나"/>
          <p:cNvSpPr/>
          <p:nvPr/>
        </p:nvSpPr>
        <p:spPr>
          <a:xfrm>
            <a:off x="457200" y="4553712"/>
            <a:ext cx="2148840" cy="548640"/>
          </a:xfrm>
          <a:prstGeom prst="roundRect">
            <a:avLst>
              <a:gd name="adj" fmla="val 15000"/>
            </a:avLst>
          </a:prstGeom>
          <a:solidFill>
            <a:srgbClr val="E9ECF1"/>
          </a:solidFill>
          <a:ln>
            <a:no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설정된 모델 하나</a:t>
            </a:r>
          </a:p>
        </p:txBody>
      </p:sp>
      <p:sp>
        <p:nvSpPr>
          <p:cNvPr id="15" name="C:11:14:added"/>
          <p:cNvSpPr/>
          <p:nvPr/>
        </p:nvSpPr>
        <p:spPr>
          <a:xfrm>
            <a:off x="2926080" y="3182112"/>
            <a:ext cx="6035040" cy="960120"/>
          </a:xfrm>
          <a:prstGeom prst="roundRect">
            <a:avLst>
              <a:gd name="adj" fmla="val 11428"/>
            </a:avLst>
          </a:prstGeom>
          <a:solidFill>
            <a:srgbClr val="E7EEF8"/>
          </a:solidFill>
          <a:ln w="28575">
            <a:solidFill>
              <a:srgbClr val="2B5FA8"/>
            </a:solidFill>
          </a:ln>
          <a:effectLst/>
        </p:spPr>
        <p:txBody>
          <a:bodyPr rtlCol="0" anchor="ctr"/>
          <a:lstStyle/>
          <a:p>
            <a:pPr algn="ctr"/>
          </a:p>
        </p:txBody>
      </p:sp>
      <p:sp>
        <p:nvSpPr>
          <p:cNvPr id="16" name="N:11:15:data_inspect"/>
          <p:cNvSpPr/>
          <p:nvPr/>
        </p:nvSpPr>
        <p:spPr>
          <a:xfrm>
            <a:off x="3035808" y="3300984"/>
            <a:ext cx="1865376" cy="722376"/>
          </a:xfrm>
          <a:prstGeom prst="roundRect">
            <a:avLst>
              <a:gd name="adj" fmla="val 11392"/>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data_inspect</a:t>
            </a:r>
          </a:p>
          <a:p>
            <a:pPr algn="ctr">
              <a:lnSpc>
                <a:spcPct val="108000"/>
              </a:lnSpc>
            </a:pPr>
            <a:r>
              <a:rPr sz="2000" b="0">
                <a:solidFill>
                  <a:srgbClr val="1F2328"/>
                </a:solidFill>
                <a:latin typeface="Nanum Gothic"/>
                <a:ea typeface="Nanum Gothic"/>
                <a:cs typeface="Nanum Gothic"/>
              </a:rPr>
              <a:t>구조 점검</a:t>
            </a:r>
          </a:p>
        </p:txBody>
      </p:sp>
      <p:sp>
        <p:nvSpPr>
          <p:cNvPr id="17" name="N:11:16:data_compare"/>
          <p:cNvSpPr/>
          <p:nvPr/>
        </p:nvSpPr>
        <p:spPr>
          <a:xfrm>
            <a:off x="4992624" y="3300984"/>
            <a:ext cx="1865376" cy="722376"/>
          </a:xfrm>
          <a:prstGeom prst="roundRect">
            <a:avLst>
              <a:gd name="adj" fmla="val 11392"/>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data_compare</a:t>
            </a:r>
          </a:p>
          <a:p>
            <a:pPr algn="ctr">
              <a:lnSpc>
                <a:spcPct val="108000"/>
              </a:lnSpc>
            </a:pPr>
            <a:r>
              <a:rPr sz="2000" b="0">
                <a:solidFill>
                  <a:srgbClr val="1F2328"/>
                </a:solidFill>
                <a:latin typeface="Nanum Gothic"/>
                <a:ea typeface="Nanum Gothic"/>
                <a:cs typeface="Nanum Gothic"/>
              </a:rPr>
              <a:t>키 기준 비교</a:t>
            </a:r>
          </a:p>
        </p:txBody>
      </p:sp>
      <p:sp>
        <p:nvSpPr>
          <p:cNvPr id="18" name="N:11:17:선택형 절차"/>
          <p:cNvSpPr/>
          <p:nvPr/>
        </p:nvSpPr>
        <p:spPr>
          <a:xfrm>
            <a:off x="6949440" y="3300984"/>
            <a:ext cx="1865376" cy="722376"/>
          </a:xfrm>
          <a:prstGeom prst="roundRect">
            <a:avLst>
              <a:gd name="adj" fmla="val 11392"/>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선택형 절차</a:t>
            </a:r>
          </a:p>
          <a:p>
            <a:pPr algn="ctr">
              <a:lnSpc>
                <a:spcPct val="108000"/>
              </a:lnSpc>
            </a:pPr>
            <a:r>
              <a:rPr sz="2000" b="0">
                <a:solidFill>
                  <a:srgbClr val="1F2328"/>
                </a:solidFill>
                <a:latin typeface="Nanum Gothic"/>
                <a:ea typeface="Nanum Gothic"/>
                <a:cs typeface="Nanum Gothic"/>
              </a:rPr>
              <a:t>pstack 일부</a:t>
            </a:r>
          </a:p>
        </p:txBody>
      </p:sp>
      <p:sp>
        <p:nvSpPr>
          <p:cNvPr id="19" name="N:11:18:OpenCode + OMO 기존 역할 (유지)"/>
          <p:cNvSpPr/>
          <p:nvPr/>
        </p:nvSpPr>
        <p:spPr>
          <a:xfrm>
            <a:off x="2926080" y="4233672"/>
            <a:ext cx="6035040" cy="411480"/>
          </a:xfrm>
          <a:prstGeom prst="roundRect">
            <a:avLst>
              <a:gd name="adj" fmla="val 20000"/>
            </a:avLst>
          </a:prstGeom>
          <a:solidFill>
            <a:srgbClr val="F7F7F4"/>
          </a:solidFill>
          <a:ln w="28575">
            <a:solidFill>
              <a:srgbClr val="5B6470"/>
            </a:solidFill>
            <a:prstDash val="dash"/>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OpenCode + OMO 기존 역할 (유지)</a:t>
            </a:r>
          </a:p>
        </p:txBody>
      </p:sp>
      <p:sp>
        <p:nvSpPr>
          <p:cNvPr id="20" name="N:11:19:설정된 단일 모델 (유지, 재학습 없음)"/>
          <p:cNvSpPr/>
          <p:nvPr/>
        </p:nvSpPr>
        <p:spPr>
          <a:xfrm>
            <a:off x="2926080" y="4690872"/>
            <a:ext cx="6035040" cy="411480"/>
          </a:xfrm>
          <a:prstGeom prst="roundRect">
            <a:avLst>
              <a:gd name="adj" fmla="val 20000"/>
            </a:avLst>
          </a:prstGeom>
          <a:solidFill>
            <a:srgbClr val="F7F7F4"/>
          </a:solidFill>
          <a:ln w="28575">
            <a:solidFill>
              <a:srgbClr val="5B6470"/>
            </a:solidFill>
            <a:prstDash val="dash"/>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설정된 단일 모델 (유지, 재학습 없음)</a:t>
            </a:r>
          </a:p>
        </p:txBody>
      </p:sp>
      <p:sp>
        <p:nvSpPr>
          <p:cNvPr id="21" name="N:11:20:설치와 점검 기록"/>
          <p:cNvSpPr/>
          <p:nvPr/>
        </p:nvSpPr>
        <p:spPr>
          <a:xfrm>
            <a:off x="9281160" y="3182112"/>
            <a:ext cx="2453335" cy="502920"/>
          </a:xfrm>
          <a:prstGeom prst="roundRect">
            <a:avLst>
              <a:gd name="adj" fmla="val 16363"/>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설치와 점검 기록</a:t>
            </a:r>
          </a:p>
        </p:txBody>
      </p:sp>
      <p:sp>
        <p:nvSpPr>
          <p:cNvPr id="22" name="N:11:21:모의 환경 테스트"/>
          <p:cNvSpPr/>
          <p:nvPr/>
        </p:nvSpPr>
        <p:spPr>
          <a:xfrm>
            <a:off x="9281160" y="3776472"/>
            <a:ext cx="2453335" cy="502920"/>
          </a:xfrm>
          <a:prstGeom prst="roundRect">
            <a:avLst>
              <a:gd name="adj" fmla="val 16363"/>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모의 환경 테스트</a:t>
            </a:r>
          </a:p>
        </p:txBody>
      </p:sp>
      <p:sp>
        <p:nvSpPr>
          <p:cNvPr id="23" name="N:11:22:사내 모델 품질"/>
          <p:cNvSpPr/>
          <p:nvPr/>
        </p:nvSpPr>
        <p:spPr>
          <a:xfrm>
            <a:off x="9281160" y="4370832"/>
            <a:ext cx="2453335" cy="731520"/>
          </a:xfrm>
          <a:prstGeom prst="roundRect">
            <a:avLst>
              <a:gd name="adj" fmla="val 11249"/>
            </a:avLst>
          </a:prstGeom>
          <a:solidFill>
            <a:srgbClr val="FFFFFF"/>
          </a:solidFill>
          <a:ln w="28575">
            <a:solidFill>
              <a:srgbClr val="B45309"/>
            </a:solidFill>
            <a:prstDash val="dash"/>
          </a:ln>
          <a:effectLst/>
        </p:spPr>
        <p:txBody>
          <a:bodyPr rtlCol="0" anchor="ctr" wrap="square" lIns="54864" rIns="54864" tIns="27432" bIns="27432">
            <a:noAutofit/>
          </a:bodyPr>
          <a:lstStyle/>
          <a:p>
            <a:pPr algn="ctr">
              <a:lnSpc>
                <a:spcPct val="108000"/>
              </a:lnSpc>
            </a:pPr>
            <a:r>
              <a:rPr sz="2000" b="1">
                <a:solidFill>
                  <a:srgbClr val="B45309"/>
                </a:solidFill>
                <a:latin typeface="Nanum Gothic"/>
                <a:ea typeface="Nanum Gothic"/>
                <a:cs typeface="Nanum Gothic"/>
              </a:rPr>
              <a:t>사내 모델 품질</a:t>
            </a:r>
          </a:p>
          <a:p>
            <a:pPr algn="ctr">
              <a:lnSpc>
                <a:spcPct val="108000"/>
              </a:lnSpc>
            </a:pPr>
            <a:r>
              <a:rPr sz="2000" b="1">
                <a:solidFill>
                  <a:srgbClr val="B45309"/>
                </a:solidFill>
                <a:latin typeface="Nanum Gothic"/>
                <a:ea typeface="Nanum Gothic"/>
                <a:cs typeface="Nanum Gothic"/>
              </a:rPr>
              <a:t>미검증</a:t>
            </a:r>
          </a:p>
        </p:txBody>
      </p:sp>
      <p:cxnSp>
        <p:nvCxnSpPr>
          <p:cNvPr id="24" name="L:11:23:free"/>
          <p:cNvCxnSpPr/>
          <p:nvPr/>
        </p:nvCxnSpPr>
        <p:spPr>
          <a:xfrm>
            <a:off x="2633472" y="4142232"/>
            <a:ext cx="265176" cy="0"/>
          </a:xfrm>
          <a:prstGeom prst="line">
            <a:avLst/>
          </a:prstGeom>
          <a:ln w="19050">
            <a:solidFill>
              <a:srgbClr val="1F2328"/>
            </a:solidFill>
            <a:tailEnd type="triangle" w="med" len="med"/>
          </a:ln>
        </p:spPr>
      </p:cxnSp>
      <p:cxnSp>
        <p:nvCxnSpPr>
          <p:cNvPr id="25" name="L:11:24:free"/>
          <p:cNvCxnSpPr/>
          <p:nvPr/>
        </p:nvCxnSpPr>
        <p:spPr>
          <a:xfrm>
            <a:off x="8988552" y="4142232"/>
            <a:ext cx="265176" cy="0"/>
          </a:xfrm>
          <a:prstGeom prst="line">
            <a:avLst/>
          </a:prstGeom>
          <a:ln w="19050">
            <a:solidFill>
              <a:srgbClr val="1F2328"/>
            </a:solidFill>
            <a:tailEnd type="triangle" w="med" len="med"/>
          </a:ln>
        </p:spPr>
      </p:cxnSp>
      <p:sp>
        <p:nvSpPr>
          <p:cNvPr id="26" name="T:11:25:csv-tag"/>
          <p:cNvSpPr txBox="1"/>
          <p:nvPr/>
        </p:nvSpPr>
        <p:spPr>
          <a:xfrm>
            <a:off x="457200" y="5349240"/>
            <a:ext cx="1325880" cy="502920"/>
          </a:xfrm>
          <a:prstGeom prst="rect">
            <a:avLst/>
          </a:prstGeom>
          <a:noFill/>
        </p:spPr>
        <p:txBody>
          <a:bodyPr wrap="square" anchor="ctr" lIns="54864" rIns="54864" tIns="27432" bIns="27432">
            <a:noAutofit/>
          </a:bodyPr>
          <a:lstStyle/>
          <a:p>
            <a:pPr algn="l">
              <a:lnSpc>
                <a:spcPct val="108000"/>
              </a:lnSpc>
            </a:pPr>
            <a:r>
              <a:rPr sz="2000" b="1">
                <a:solidFill>
                  <a:srgbClr val="5B6470"/>
                </a:solidFill>
                <a:latin typeface="Nanum Gothic"/>
                <a:ea typeface="Nanum Gothic"/>
                <a:cs typeface="Nanum Gothic"/>
              </a:rPr>
              <a:t>가상 예시</a:t>
            </a:r>
          </a:p>
        </p:txBody>
      </p:sp>
      <p:sp>
        <p:nvSpPr>
          <p:cNvPr id="27" name="N:11:26:새 CSV"/>
          <p:cNvSpPr/>
          <p:nvPr/>
        </p:nvSpPr>
        <p:spPr>
          <a:xfrm>
            <a:off x="1828800" y="5349240"/>
            <a:ext cx="2103120" cy="502920"/>
          </a:xfrm>
          <a:prstGeom prst="roundRect">
            <a:avLst>
              <a:gd name="adj" fmla="val 16363"/>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새 CSV</a:t>
            </a:r>
          </a:p>
        </p:txBody>
      </p:sp>
      <p:sp>
        <p:nvSpPr>
          <p:cNvPr id="28" name="N:11:27:구조 점검"/>
          <p:cNvSpPr/>
          <p:nvPr/>
        </p:nvSpPr>
        <p:spPr>
          <a:xfrm>
            <a:off x="4343400" y="5349240"/>
            <a:ext cx="2103120" cy="502920"/>
          </a:xfrm>
          <a:prstGeom prst="roundRect">
            <a:avLst>
              <a:gd name="adj" fmla="val 16363"/>
            </a:avLst>
          </a:prstGeom>
          <a:solidFill>
            <a:srgbClr val="E7EEF8"/>
          </a:solidFill>
          <a:ln w="28575">
            <a:solidFill>
              <a:srgbClr val="2B5FA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구조 점검</a:t>
            </a:r>
          </a:p>
        </p:txBody>
      </p:sp>
      <p:sp>
        <p:nvSpPr>
          <p:cNvPr id="29" name="N:11:28:변경"/>
          <p:cNvSpPr/>
          <p:nvPr/>
        </p:nvSpPr>
        <p:spPr>
          <a:xfrm>
            <a:off x="6858000" y="5349240"/>
            <a:ext cx="2103120" cy="502920"/>
          </a:xfrm>
          <a:prstGeom prst="roundRect">
            <a:avLst>
              <a:gd name="adj" fmla="val 16363"/>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변경</a:t>
            </a:r>
          </a:p>
        </p:txBody>
      </p:sp>
      <p:sp>
        <p:nvSpPr>
          <p:cNvPr id="30" name="N:11:29:키 기준 비교"/>
          <p:cNvSpPr/>
          <p:nvPr/>
        </p:nvSpPr>
        <p:spPr>
          <a:xfrm>
            <a:off x="9372600" y="5349240"/>
            <a:ext cx="2103120" cy="502920"/>
          </a:xfrm>
          <a:prstGeom prst="roundRect">
            <a:avLst>
              <a:gd name="adj" fmla="val 16363"/>
            </a:avLst>
          </a:prstGeom>
          <a:solidFill>
            <a:srgbClr val="E7EEF8"/>
          </a:solidFill>
          <a:ln w="28575">
            <a:solidFill>
              <a:srgbClr val="2B5FA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키 기준 비교</a:t>
            </a:r>
          </a:p>
        </p:txBody>
      </p:sp>
      <p:cxnSp>
        <p:nvCxnSpPr>
          <p:cNvPr id="31" name="L:11:30:새 CSV-&gt;구조 점검"/>
          <p:cNvCxnSpPr>
            <a:stCxn id="27" idx="3"/>
            <a:endCxn id="28" idx="1"/>
          </p:cNvCxnSpPr>
          <p:nvPr/>
        </p:nvCxnSpPr>
        <p:spPr>
          <a:xfrm flipV="1">
            <a:off x="3931920" y="5600700"/>
            <a:ext cx="411480" cy="0"/>
          </a:xfrm>
          <a:prstGeom prst="line">
            <a:avLst/>
          </a:prstGeom>
          <a:ln w="19050">
            <a:solidFill>
              <a:srgbClr val="1F2328"/>
            </a:solidFill>
            <a:tailEnd type="triangle" w="med" len="med"/>
          </a:ln>
        </p:spPr>
      </p:cxnSp>
      <p:cxnSp>
        <p:nvCxnSpPr>
          <p:cNvPr id="32" name="L:11:31:구조 점검-&gt;변경"/>
          <p:cNvCxnSpPr>
            <a:stCxn id="28" idx="3"/>
            <a:endCxn id="29" idx="1"/>
          </p:cNvCxnSpPr>
          <p:nvPr/>
        </p:nvCxnSpPr>
        <p:spPr>
          <a:xfrm flipV="1">
            <a:off x="6446520" y="5600700"/>
            <a:ext cx="411480" cy="0"/>
          </a:xfrm>
          <a:prstGeom prst="line">
            <a:avLst/>
          </a:prstGeom>
          <a:ln w="19050">
            <a:solidFill>
              <a:srgbClr val="1F2328"/>
            </a:solidFill>
            <a:tailEnd type="triangle" w="med" len="med"/>
          </a:ln>
        </p:spPr>
      </p:cxnSp>
      <p:cxnSp>
        <p:nvCxnSpPr>
          <p:cNvPr id="33" name="L:11:32:변경-&gt;키 기준 비교"/>
          <p:cNvCxnSpPr>
            <a:stCxn id="29" idx="3"/>
            <a:endCxn id="30" idx="1"/>
          </p:cNvCxnSpPr>
          <p:nvPr/>
        </p:nvCxnSpPr>
        <p:spPr>
          <a:xfrm flipV="1">
            <a:off x="8961120" y="5600700"/>
            <a:ext cx="411480" cy="0"/>
          </a:xfrm>
          <a:prstGeom prst="line">
            <a:avLst/>
          </a:prstGeom>
          <a:ln w="19050">
            <a:solidFill>
              <a:srgbClr val="1F2328"/>
            </a:solidFill>
            <a:tailEnd type="triangle" w="med" len="med"/>
          </a:ln>
        </p:spPr>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7F4"/>
        </a:solidFill>
        <a:effectLst/>
      </p:bgPr>
    </p:bg>
    <p:spTree>
      <p:nvGrpSpPr>
        <p:cNvPr id="1" name=""/>
        <p:cNvGrpSpPr/>
        <p:nvPr/>
      </p:nvGrpSpPr>
      <p:grpSpPr/>
      <p:sp>
        <p:nvSpPr>
          <p:cNvPr id="2" name="T:17:01:meta-left"/>
          <p:cNvSpPr txBox="1"/>
          <p:nvPr/>
        </p:nvSpPr>
        <p:spPr>
          <a:xfrm>
            <a:off x="457200" y="384048"/>
            <a:ext cx="5486400" cy="292608"/>
          </a:xfrm>
          <a:prstGeom prst="rect">
            <a:avLst/>
          </a:prstGeom>
          <a:noFill/>
        </p:spPr>
        <p:txBody>
          <a:bodyPr wrap="square" anchor="ctr" lIns="54864" rIns="54864" tIns="27432" bIns="27432">
            <a:noAutofit/>
          </a:bodyPr>
          <a:lstStyle/>
          <a:p>
            <a:pPr algn="l">
              <a:lnSpc>
                <a:spcPct val="108000"/>
              </a:lnSpc>
            </a:pPr>
            <a:r>
              <a:rPr sz="1600" b="1">
                <a:solidFill>
                  <a:srgbClr val="2B5FA8"/>
                </a:solidFill>
                <a:latin typeface="Nanum Gothic"/>
                <a:ea typeface="Nanum Gothic"/>
                <a:cs typeface="Nanum Gothic"/>
              </a:rPr>
              <a:t>S17</a:t>
            </a:r>
            <a:r>
              <a:rPr sz="1600" b="0">
                <a:solidFill>
                  <a:srgbClr val="5B6470"/>
                </a:solidFill>
                <a:latin typeface="Nanum Gothic"/>
                <a:ea typeface="Nanum Gothic"/>
                <a:cs typeface="Nanum Gothic"/>
              </a:rPr>
              <a:t>   용어   입력과 한계</a:t>
            </a:r>
          </a:p>
        </p:txBody>
      </p:sp>
      <p:sp>
        <p:nvSpPr>
          <p:cNvPr id="3" name="T:17:02:meta-right"/>
          <p:cNvSpPr txBox="1"/>
          <p:nvPr/>
        </p:nvSpPr>
        <p:spPr>
          <a:xfrm>
            <a:off x="5943600" y="384048"/>
            <a:ext cx="5790895" cy="292608"/>
          </a:xfrm>
          <a:prstGeom prst="rect">
            <a:avLst/>
          </a:prstGeom>
          <a:noFill/>
        </p:spPr>
        <p:txBody>
          <a:bodyPr wrap="square" anchor="ctr" lIns="54864" rIns="54864" tIns="27432" bIns="27432">
            <a:noAutofit/>
          </a:bodyPr>
          <a:lstStyle/>
          <a:p>
            <a:pPr algn="r">
              <a:lnSpc>
                <a:spcPct val="108000"/>
              </a:lnSpc>
            </a:pPr>
            <a:r>
              <a:rPr sz="1600" b="0">
                <a:solidFill>
                  <a:srgbClr val="5B6470"/>
                </a:solidFill>
                <a:latin typeface="Nanum Gothic"/>
                <a:ea typeface="Nanum Gothic"/>
                <a:cs typeface="Nanum Gothic"/>
              </a:rPr>
              <a:t>원본 S17   51분부터 54분까지, 3분</a:t>
            </a:r>
          </a:p>
        </p:txBody>
      </p:sp>
      <p:sp>
        <p:nvSpPr>
          <p:cNvPr id="4" name="T:17:03:title"/>
          <p:cNvSpPr txBox="1"/>
          <p:nvPr/>
        </p:nvSpPr>
        <p:spPr>
          <a:xfrm>
            <a:off x="457200" y="713232"/>
            <a:ext cx="11277295" cy="603504"/>
          </a:xfrm>
          <a:prstGeom prst="rect">
            <a:avLst/>
          </a:prstGeom>
          <a:noFill/>
        </p:spPr>
        <p:txBody>
          <a:bodyPr wrap="square" anchor="t" lIns="54864" rIns="54864" tIns="27432" bIns="27432">
            <a:noAutofit/>
          </a:bodyPr>
          <a:lstStyle/>
          <a:p>
            <a:pPr algn="l">
              <a:lnSpc>
                <a:spcPct val="108000"/>
              </a:lnSpc>
            </a:pPr>
            <a:r>
              <a:rPr sz="3600" b="1">
                <a:solidFill>
                  <a:srgbClr val="1F2328"/>
                </a:solidFill>
                <a:latin typeface="Nanum Gothic"/>
                <a:ea typeface="Nanum Gothic"/>
                <a:cs typeface="Nanum Gothic"/>
              </a:rPr>
              <a:t>컨텍스트</a:t>
            </a:r>
          </a:p>
        </p:txBody>
      </p:sp>
      <p:sp>
        <p:nvSpPr>
          <p:cNvPr id="5" name="B:17:04:question"/>
          <p:cNvSpPr/>
          <p:nvPr/>
        </p:nvSpPr>
        <p:spPr>
          <a:xfrm>
            <a:off x="457200" y="1426464"/>
            <a:ext cx="11277295" cy="548640"/>
          </a:xfrm>
          <a:prstGeom prst="rect">
            <a:avLst/>
          </a:prstGeom>
          <a:solidFill>
            <a:srgbClr val="E9ECF1"/>
          </a:solidFill>
          <a:ln>
            <a:noFill/>
          </a:ln>
          <a:effectLst/>
        </p:spPr>
        <p:txBody>
          <a:bodyPr rtlCol="0" anchor="ctr" wrap="square" lIns="274320" rIns="54864" tIns="27432" bIns="27432">
            <a:noAutofit/>
          </a:bodyPr>
          <a:lstStyle/>
          <a:p>
            <a:pPr algn="l">
              <a:lnSpc>
                <a:spcPct val="108000"/>
              </a:lnSpc>
            </a:pPr>
            <a:r>
              <a:rPr sz="2000" b="1">
                <a:solidFill>
                  <a:srgbClr val="2B5FA8"/>
                </a:solidFill>
                <a:latin typeface="Nanum Gothic"/>
                <a:ea typeface="Nanum Gothic"/>
                <a:cs typeface="Nanum Gothic"/>
              </a:rPr>
              <a:t>질문   </a:t>
            </a:r>
            <a:r>
              <a:rPr sz="2400" b="0">
                <a:solidFill>
                  <a:srgbClr val="1F2328"/>
                </a:solidFill>
                <a:latin typeface="Nanum Gothic"/>
                <a:ea typeface="Nanum Gothic"/>
                <a:cs typeface="Nanum Gothic"/>
              </a:rPr>
              <a:t>AI는 지난 회의의 결정을 떠올릴 수 있을까?</a:t>
            </a:r>
          </a:p>
        </p:txBody>
      </p:sp>
      <p:sp>
        <p:nvSpPr>
          <p:cNvPr id="6" name="B:17:05:question-accent"/>
          <p:cNvSpPr/>
          <p:nvPr/>
        </p:nvSpPr>
        <p:spPr>
          <a:xfrm>
            <a:off x="457200" y="1426464"/>
            <a:ext cx="73152" cy="548640"/>
          </a:xfrm>
          <a:prstGeom prst="rect">
            <a:avLst/>
          </a:prstGeom>
          <a:solidFill>
            <a:srgbClr val="2B5FA8"/>
          </a:solidFill>
          <a:ln>
            <a:noFill/>
          </a:ln>
          <a:effectLst/>
        </p:spPr>
        <p:txBody>
          <a:bodyPr rtlCol="0" anchor="ctr"/>
          <a:lstStyle/>
          <a:p>
            <a:pPr algn="ctr"/>
          </a:p>
        </p:txBody>
      </p:sp>
      <p:sp>
        <p:nvSpPr>
          <p:cNvPr id="7" name="T:17:06:lead"/>
          <p:cNvSpPr txBox="1"/>
          <p:nvPr/>
        </p:nvSpPr>
        <p:spPr>
          <a:xfrm>
            <a:off x="457200" y="2084832"/>
            <a:ext cx="11277295" cy="457200"/>
          </a:xfrm>
          <a:prstGeom prst="rect">
            <a:avLst/>
          </a:prstGeom>
          <a:noFill/>
        </p:spPr>
        <p:txBody>
          <a:bodyPr wrap="square" anchor="ctr" lIns="54864" rIns="54864" tIns="27432" bIns="27432">
            <a:noAutofit/>
          </a:bodyPr>
          <a:lstStyle/>
          <a:p>
            <a:pPr algn="l">
              <a:lnSpc>
                <a:spcPct val="108000"/>
              </a:lnSpc>
            </a:pPr>
            <a:r>
              <a:rPr sz="2000" b="1">
                <a:solidFill>
                  <a:srgbClr val="2B5FA8"/>
                </a:solidFill>
                <a:latin typeface="Nanum Gothic"/>
                <a:ea typeface="Nanum Gothic"/>
                <a:cs typeface="Nanum Gothic"/>
              </a:rPr>
              <a:t>정의   </a:t>
            </a:r>
            <a:r>
              <a:rPr sz="2400" b="1">
                <a:solidFill>
                  <a:srgbClr val="1F2328"/>
                </a:solidFill>
                <a:latin typeface="Nanum Gothic"/>
                <a:ea typeface="Nanum Gothic"/>
                <a:cs typeface="Nanum Gothic"/>
              </a:rPr>
              <a:t>이번 호출에 실제로 들어간 입력 전체가 컨텍스트다.</a:t>
            </a:r>
          </a:p>
        </p:txBody>
      </p:sp>
      <p:sp>
        <p:nvSpPr>
          <p:cNvPr id="8" name="T:17:07:footnote"/>
          <p:cNvSpPr txBox="1"/>
          <p:nvPr/>
        </p:nvSpPr>
        <p:spPr>
          <a:xfrm>
            <a:off x="457200" y="6108192"/>
            <a:ext cx="11277295" cy="347472"/>
          </a:xfrm>
          <a:prstGeom prst="rect">
            <a:avLst/>
          </a:prstGeom>
          <a:noFill/>
        </p:spPr>
        <p:txBody>
          <a:bodyPr wrap="square" anchor="ctr" lIns="54864" rIns="54864" tIns="27432" bIns="27432">
            <a:noAutofit/>
          </a:bodyPr>
          <a:lstStyle/>
          <a:p>
            <a:pPr algn="l">
              <a:lnSpc>
                <a:spcPct val="108000"/>
              </a:lnSpc>
            </a:pPr>
            <a:r>
              <a:rPr sz="1600" b="0">
                <a:solidFill>
                  <a:srgbClr val="5B6470"/>
                </a:solidFill>
                <a:latin typeface="Nanum Gothic"/>
                <a:ea typeface="Nanum Gothic"/>
                <a:cs typeface="Nanum Gothic"/>
              </a:rPr>
              <a:t>읽힌 내용은 근거가 될 뿐 정답을 보장하지 않는다. 출력은 가상 예시다.</a:t>
            </a:r>
          </a:p>
        </p:txBody>
      </p:sp>
      <p:sp>
        <p:nvSpPr>
          <p:cNvPr id="9" name="T:17:08:panel-요청만 보냈을 때"/>
          <p:cNvSpPr txBox="1"/>
          <p:nvPr/>
        </p:nvSpPr>
        <p:spPr>
          <a:xfrm>
            <a:off x="457200" y="2724912"/>
            <a:ext cx="5440680" cy="365760"/>
          </a:xfrm>
          <a:prstGeom prst="rect">
            <a:avLst/>
          </a:prstGeom>
          <a:noFill/>
        </p:spPr>
        <p:txBody>
          <a:bodyPr wrap="square" anchor="ctr" lIns="54864" rIns="54864" tIns="27432" bIns="27432">
            <a:noAutofit/>
          </a:bodyPr>
          <a:lstStyle/>
          <a:p>
            <a:pPr algn="l">
              <a:lnSpc>
                <a:spcPct val="108000"/>
              </a:lnSpc>
            </a:pPr>
            <a:r>
              <a:rPr sz="2000" b="1">
                <a:solidFill>
                  <a:srgbClr val="1F2328"/>
                </a:solidFill>
                <a:latin typeface="Nanum Gothic"/>
                <a:ea typeface="Nanum Gothic"/>
                <a:cs typeface="Nanum Gothic"/>
              </a:rPr>
              <a:t>요청만 보냈을 때</a:t>
            </a:r>
          </a:p>
        </p:txBody>
      </p:sp>
      <p:sp>
        <p:nvSpPr>
          <p:cNvPr id="10" name="C:17:09:context"/>
          <p:cNvSpPr/>
          <p:nvPr/>
        </p:nvSpPr>
        <p:spPr>
          <a:xfrm>
            <a:off x="457200" y="3182112"/>
            <a:ext cx="3246120" cy="1801368"/>
          </a:xfrm>
          <a:prstGeom prst="roundRect">
            <a:avLst>
              <a:gd name="adj" fmla="val 6091"/>
            </a:avLst>
          </a:prstGeom>
          <a:noFill/>
          <a:ln w="28575">
            <a:solidFill>
              <a:srgbClr val="2B5FA8"/>
            </a:solidFill>
          </a:ln>
          <a:effectLst/>
        </p:spPr>
        <p:txBody>
          <a:bodyPr rtlCol="0" anchor="ctr"/>
          <a:lstStyle/>
          <a:p>
            <a:pPr algn="ctr"/>
          </a:p>
        </p:txBody>
      </p:sp>
      <p:sp>
        <p:nvSpPr>
          <p:cNvPr id="11" name="T:17:10:context-label"/>
          <p:cNvSpPr txBox="1"/>
          <p:nvPr/>
        </p:nvSpPr>
        <p:spPr>
          <a:xfrm>
            <a:off x="594360" y="3227832"/>
            <a:ext cx="2971800" cy="347472"/>
          </a:xfrm>
          <a:prstGeom prst="rect">
            <a:avLst/>
          </a:prstGeom>
          <a:noFill/>
        </p:spPr>
        <p:txBody>
          <a:bodyPr wrap="square" anchor="ctr" lIns="54864" rIns="54864" tIns="27432" bIns="27432">
            <a:noAutofit/>
          </a:bodyPr>
          <a:lstStyle/>
          <a:p>
            <a:pPr algn="l">
              <a:lnSpc>
                <a:spcPct val="108000"/>
              </a:lnSpc>
            </a:pPr>
            <a:r>
              <a:rPr sz="2000" b="1">
                <a:solidFill>
                  <a:srgbClr val="2B5FA8"/>
                </a:solidFill>
                <a:latin typeface="Nanum Gothic"/>
                <a:ea typeface="Nanum Gothic"/>
                <a:cs typeface="Nanum Gothic"/>
              </a:rPr>
              <a:t>이번 호출의 컨텍스트</a:t>
            </a:r>
          </a:p>
        </p:txBody>
      </p:sp>
      <p:sp>
        <p:nvSpPr>
          <p:cNvPr id="12" name="N:17:11:요청 한 줄"/>
          <p:cNvSpPr/>
          <p:nvPr/>
        </p:nvSpPr>
        <p:spPr>
          <a:xfrm>
            <a:off x="640080" y="3593592"/>
            <a:ext cx="2880360" cy="384048"/>
          </a:xfrm>
          <a:prstGeom prst="roundRect">
            <a:avLst>
              <a:gd name="adj" fmla="val 21428"/>
            </a:avLst>
          </a:prstGeom>
          <a:solidFill>
            <a:srgbClr val="E9ECF1"/>
          </a:solidFill>
          <a:ln>
            <a:no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요청 한 줄</a:t>
            </a:r>
          </a:p>
        </p:txBody>
      </p:sp>
      <p:sp>
        <p:nvSpPr>
          <p:cNvPr id="13" name="N:17:12:파일 경로만"/>
          <p:cNvSpPr/>
          <p:nvPr/>
        </p:nvSpPr>
        <p:spPr>
          <a:xfrm>
            <a:off x="640080" y="4050792"/>
            <a:ext cx="2880360" cy="384048"/>
          </a:xfrm>
          <a:prstGeom prst="roundRect">
            <a:avLst>
              <a:gd name="adj" fmla="val 21428"/>
            </a:avLst>
          </a:prstGeom>
          <a:noFill/>
          <a:ln w="12700">
            <a:solidFill>
              <a:srgbClr val="5B6470"/>
            </a:solidFill>
            <a:prstDash val="dash"/>
          </a:ln>
          <a:effectLst/>
        </p:spPr>
        <p:txBody>
          <a:bodyPr rtlCol="0" anchor="ctr" wrap="square" lIns="54864" rIns="54864" tIns="27432" bIns="27432">
            <a:noAutofit/>
          </a:bodyPr>
          <a:lstStyle/>
          <a:p>
            <a:pPr algn="ctr">
              <a:lnSpc>
                <a:spcPct val="108000"/>
              </a:lnSpc>
            </a:pPr>
            <a:r>
              <a:rPr sz="2000" b="0">
                <a:solidFill>
                  <a:srgbClr val="5B6470"/>
                </a:solidFill>
                <a:latin typeface="Nanum Gothic"/>
                <a:ea typeface="Nanum Gothic"/>
                <a:cs typeface="Nanum Gothic"/>
              </a:rPr>
              <a:t>파일 경로만</a:t>
            </a:r>
          </a:p>
        </p:txBody>
      </p:sp>
      <p:sp>
        <p:nvSpPr>
          <p:cNvPr id="14" name="N:17:13:disk-읽히지 않음"/>
          <p:cNvSpPr/>
          <p:nvPr/>
        </p:nvSpPr>
        <p:spPr>
          <a:xfrm>
            <a:off x="457200" y="5239512"/>
            <a:ext cx="3246120" cy="731520"/>
          </a:xfrm>
          <a:prstGeom prst="roundRect">
            <a:avLst>
              <a:gd name="adj" fmla="val 11249"/>
            </a:avLst>
          </a:prstGeom>
          <a:noFill/>
          <a:ln w="15875">
            <a:solidFill>
              <a:srgbClr val="5B6470"/>
            </a:solidFill>
            <a:prstDash val="dash"/>
          </a:ln>
          <a:effectLst/>
        </p:spPr>
        <p:txBody>
          <a:bodyPr rtlCol="0" anchor="ctr" wrap="square" lIns="54864" rIns="54864" tIns="27432" bIns="27432">
            <a:noAutofit/>
          </a:bodyPr>
          <a:lstStyle/>
          <a:p>
            <a:pPr algn="ctr">
              <a:lnSpc>
                <a:spcPct val="108000"/>
              </a:lnSpc>
            </a:pPr>
            <a:r>
              <a:rPr sz="2000" b="0">
                <a:solidFill>
                  <a:srgbClr val="5B6470"/>
                </a:solidFill>
                <a:latin typeface="Nanum Gothic"/>
                <a:ea typeface="Nanum Gothic"/>
                <a:cs typeface="Nanum Gothic"/>
              </a:rPr>
              <a:t>회의록 파일 (디스크)</a:t>
            </a:r>
          </a:p>
          <a:p>
            <a:pPr algn="ctr">
              <a:lnSpc>
                <a:spcPct val="108000"/>
              </a:lnSpc>
            </a:pPr>
            <a:r>
              <a:rPr sz="2000" b="1">
                <a:solidFill>
                  <a:srgbClr val="5B6470"/>
                </a:solidFill>
                <a:latin typeface="Nanum Gothic"/>
                <a:ea typeface="Nanum Gothic"/>
                <a:cs typeface="Nanum Gothic"/>
              </a:rPr>
              <a:t>읽히지 않음</a:t>
            </a:r>
          </a:p>
        </p:txBody>
      </p:sp>
      <p:sp>
        <p:nvSpPr>
          <p:cNvPr id="15" name="N:17:14:출력 (예시)"/>
          <p:cNvSpPr/>
          <p:nvPr/>
        </p:nvSpPr>
        <p:spPr>
          <a:xfrm>
            <a:off x="3977639" y="3488436"/>
            <a:ext cx="1920240" cy="1188720"/>
          </a:xfrm>
          <a:prstGeom prst="roundRect">
            <a:avLst>
              <a:gd name="adj" fmla="val 6923"/>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출력 (예시)</a:t>
            </a:r>
          </a:p>
          <a:p>
            <a:pPr algn="ctr">
              <a:lnSpc>
                <a:spcPct val="108000"/>
              </a:lnSpc>
            </a:pPr>
            <a:r>
              <a:rPr sz="2000" b="0">
                <a:solidFill>
                  <a:srgbClr val="1F2328"/>
                </a:solidFill>
                <a:latin typeface="Nanum Gothic"/>
                <a:ea typeface="Nanum Gothic"/>
                <a:cs typeface="Nanum Gothic"/>
              </a:rPr>
              <a:t>일반 목록</a:t>
            </a:r>
          </a:p>
        </p:txBody>
      </p:sp>
      <p:cxnSp>
        <p:nvCxnSpPr>
          <p:cNvPr id="16" name="L:17:15:context-&gt;출력 (예시)"/>
          <p:cNvCxnSpPr>
            <a:stCxn id="10" idx="3"/>
            <a:endCxn id="15" idx="1"/>
          </p:cNvCxnSpPr>
          <p:nvPr/>
        </p:nvCxnSpPr>
        <p:spPr>
          <a:xfrm flipV="1">
            <a:off x="3703320" y="4082796"/>
            <a:ext cx="274319" cy="0"/>
          </a:xfrm>
          <a:prstGeom prst="line">
            <a:avLst/>
          </a:prstGeom>
          <a:ln w="19050">
            <a:solidFill>
              <a:srgbClr val="1F2328"/>
            </a:solidFill>
            <a:tailEnd type="triangle" w="med" len="med"/>
          </a:ln>
        </p:spPr>
      </p:cxnSp>
      <p:sp>
        <p:nvSpPr>
          <p:cNvPr id="17" name="T:17:16:panel-회의록을 명시적으로 읽혔을 때"/>
          <p:cNvSpPr txBox="1"/>
          <p:nvPr/>
        </p:nvSpPr>
        <p:spPr>
          <a:xfrm>
            <a:off x="6291072" y="2724912"/>
            <a:ext cx="5440680" cy="365760"/>
          </a:xfrm>
          <a:prstGeom prst="rect">
            <a:avLst/>
          </a:prstGeom>
          <a:noFill/>
        </p:spPr>
        <p:txBody>
          <a:bodyPr wrap="square" anchor="ctr" lIns="54864" rIns="54864" tIns="27432" bIns="27432">
            <a:noAutofit/>
          </a:bodyPr>
          <a:lstStyle/>
          <a:p>
            <a:pPr algn="l">
              <a:lnSpc>
                <a:spcPct val="108000"/>
              </a:lnSpc>
            </a:pPr>
            <a:r>
              <a:rPr sz="2000" b="1">
                <a:solidFill>
                  <a:srgbClr val="2B5FA8"/>
                </a:solidFill>
                <a:latin typeface="Nanum Gothic"/>
                <a:ea typeface="Nanum Gothic"/>
                <a:cs typeface="Nanum Gothic"/>
              </a:rPr>
              <a:t>회의록을 명시적으로 읽혔을 때</a:t>
            </a:r>
          </a:p>
        </p:txBody>
      </p:sp>
      <p:sp>
        <p:nvSpPr>
          <p:cNvPr id="18" name="C:17:17:context"/>
          <p:cNvSpPr/>
          <p:nvPr/>
        </p:nvSpPr>
        <p:spPr>
          <a:xfrm>
            <a:off x="6291072" y="3182112"/>
            <a:ext cx="3246120" cy="1801368"/>
          </a:xfrm>
          <a:prstGeom prst="roundRect">
            <a:avLst>
              <a:gd name="adj" fmla="val 6091"/>
            </a:avLst>
          </a:prstGeom>
          <a:noFill/>
          <a:ln w="28575">
            <a:solidFill>
              <a:srgbClr val="2B5FA8"/>
            </a:solidFill>
          </a:ln>
          <a:effectLst/>
        </p:spPr>
        <p:txBody>
          <a:bodyPr rtlCol="0" anchor="ctr"/>
          <a:lstStyle/>
          <a:p>
            <a:pPr algn="ctr"/>
          </a:p>
        </p:txBody>
      </p:sp>
      <p:sp>
        <p:nvSpPr>
          <p:cNvPr id="19" name="T:17:18:context-label"/>
          <p:cNvSpPr txBox="1"/>
          <p:nvPr/>
        </p:nvSpPr>
        <p:spPr>
          <a:xfrm>
            <a:off x="6428232" y="3227832"/>
            <a:ext cx="2971800" cy="347472"/>
          </a:xfrm>
          <a:prstGeom prst="rect">
            <a:avLst/>
          </a:prstGeom>
          <a:noFill/>
        </p:spPr>
        <p:txBody>
          <a:bodyPr wrap="square" anchor="ctr" lIns="54864" rIns="54864" tIns="27432" bIns="27432">
            <a:noAutofit/>
          </a:bodyPr>
          <a:lstStyle/>
          <a:p>
            <a:pPr algn="l">
              <a:lnSpc>
                <a:spcPct val="108000"/>
              </a:lnSpc>
            </a:pPr>
            <a:r>
              <a:rPr sz="2000" b="1">
                <a:solidFill>
                  <a:srgbClr val="2B5FA8"/>
                </a:solidFill>
                <a:latin typeface="Nanum Gothic"/>
                <a:ea typeface="Nanum Gothic"/>
                <a:cs typeface="Nanum Gothic"/>
              </a:rPr>
              <a:t>이번 호출의 컨텍스트</a:t>
            </a:r>
          </a:p>
        </p:txBody>
      </p:sp>
      <p:sp>
        <p:nvSpPr>
          <p:cNvPr id="20" name="N:17:19:요청 한 줄"/>
          <p:cNvSpPr/>
          <p:nvPr/>
        </p:nvSpPr>
        <p:spPr>
          <a:xfrm>
            <a:off x="6473952" y="3593592"/>
            <a:ext cx="2880360" cy="384048"/>
          </a:xfrm>
          <a:prstGeom prst="roundRect">
            <a:avLst>
              <a:gd name="adj" fmla="val 21428"/>
            </a:avLst>
          </a:prstGeom>
          <a:solidFill>
            <a:srgbClr val="E9ECF1"/>
          </a:solidFill>
          <a:ln>
            <a:no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요청 한 줄</a:t>
            </a:r>
          </a:p>
        </p:txBody>
      </p:sp>
      <p:sp>
        <p:nvSpPr>
          <p:cNvPr id="21" name="N:17:20:안건과 참석자"/>
          <p:cNvSpPr/>
          <p:nvPr/>
        </p:nvSpPr>
        <p:spPr>
          <a:xfrm>
            <a:off x="6473952" y="4050792"/>
            <a:ext cx="2880360" cy="384048"/>
          </a:xfrm>
          <a:prstGeom prst="roundRect">
            <a:avLst>
              <a:gd name="adj" fmla="val 21428"/>
            </a:avLst>
          </a:prstGeom>
          <a:solidFill>
            <a:srgbClr val="E9ECF1"/>
          </a:solidFill>
          <a:ln>
            <a:no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안건과 참석자</a:t>
            </a:r>
          </a:p>
        </p:txBody>
      </p:sp>
      <p:sp>
        <p:nvSpPr>
          <p:cNvPr id="22" name="N:17:21:지난 결정 (회의록)"/>
          <p:cNvSpPr/>
          <p:nvPr/>
        </p:nvSpPr>
        <p:spPr>
          <a:xfrm>
            <a:off x="6473952" y="4507992"/>
            <a:ext cx="2880360" cy="384048"/>
          </a:xfrm>
          <a:prstGeom prst="roundRect">
            <a:avLst>
              <a:gd name="adj" fmla="val 21428"/>
            </a:avLst>
          </a:prstGeom>
          <a:solidFill>
            <a:srgbClr val="E7EEF8"/>
          </a:solidFill>
          <a:ln w="28575">
            <a:solidFill>
              <a:srgbClr val="2B5FA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지난 결정 (회의록)</a:t>
            </a:r>
          </a:p>
        </p:txBody>
      </p:sp>
      <p:sp>
        <p:nvSpPr>
          <p:cNvPr id="23" name="N:17:22:disk-명시적으로 읽음"/>
          <p:cNvSpPr/>
          <p:nvPr/>
        </p:nvSpPr>
        <p:spPr>
          <a:xfrm>
            <a:off x="6291072" y="5239512"/>
            <a:ext cx="3246120" cy="731520"/>
          </a:xfrm>
          <a:prstGeom prst="roundRect">
            <a:avLst>
              <a:gd name="adj" fmla="val 11249"/>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회의록 파일 (디스크)</a:t>
            </a:r>
          </a:p>
          <a:p>
            <a:pPr algn="ctr">
              <a:lnSpc>
                <a:spcPct val="108000"/>
              </a:lnSpc>
            </a:pPr>
            <a:r>
              <a:rPr sz="2000" b="1">
                <a:solidFill>
                  <a:srgbClr val="2B5FA8"/>
                </a:solidFill>
                <a:latin typeface="Nanum Gothic"/>
                <a:ea typeface="Nanum Gothic"/>
                <a:cs typeface="Nanum Gothic"/>
              </a:rPr>
              <a:t>명시적으로 읽음</a:t>
            </a:r>
          </a:p>
        </p:txBody>
      </p:sp>
      <p:cxnSp>
        <p:nvCxnSpPr>
          <p:cNvPr id="24" name="L:17:23:disk-명시적으로 읽음-&gt;context"/>
          <p:cNvCxnSpPr>
            <a:stCxn id="23" idx="0"/>
            <a:endCxn id="18" idx="2"/>
          </p:cNvCxnSpPr>
          <p:nvPr/>
        </p:nvCxnSpPr>
        <p:spPr>
          <a:xfrm flipH="1" flipV="1">
            <a:off x="7914132" y="4983480"/>
            <a:ext cx="0" cy="256032"/>
          </a:xfrm>
          <a:prstGeom prst="line">
            <a:avLst/>
          </a:prstGeom>
          <a:ln w="28575">
            <a:solidFill>
              <a:srgbClr val="2B5FA8"/>
            </a:solidFill>
            <a:tailEnd type="triangle" w="med" len="med"/>
          </a:ln>
        </p:spPr>
      </p:cxnSp>
      <p:sp>
        <p:nvSpPr>
          <p:cNvPr id="25" name="N:17:24:출력 (예시)"/>
          <p:cNvSpPr/>
          <p:nvPr/>
        </p:nvSpPr>
        <p:spPr>
          <a:xfrm>
            <a:off x="9811512" y="3488436"/>
            <a:ext cx="1920240" cy="1188720"/>
          </a:xfrm>
          <a:prstGeom prst="roundRect">
            <a:avLst>
              <a:gd name="adj" fmla="val 6923"/>
            </a:avLst>
          </a:prstGeom>
          <a:solidFill>
            <a:srgbClr val="E7EEF8"/>
          </a:solidFill>
          <a:ln w="28575">
            <a:solidFill>
              <a:srgbClr val="2B5FA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출력 (예시)</a:t>
            </a:r>
          </a:p>
          <a:p>
            <a:pPr algn="ctr">
              <a:lnSpc>
                <a:spcPct val="108000"/>
              </a:lnSpc>
            </a:pPr>
            <a:r>
              <a:rPr sz="2000" b="0">
                <a:solidFill>
                  <a:srgbClr val="1F2328"/>
                </a:solidFill>
                <a:latin typeface="Nanum Gothic"/>
                <a:ea typeface="Nanum Gothic"/>
                <a:cs typeface="Nanum Gothic"/>
              </a:rPr>
              <a:t>결정을 반영한</a:t>
            </a:r>
          </a:p>
          <a:p>
            <a:pPr algn="ctr">
              <a:lnSpc>
                <a:spcPct val="108000"/>
              </a:lnSpc>
            </a:pPr>
            <a:r>
              <a:rPr sz="2000" b="0">
                <a:solidFill>
                  <a:srgbClr val="1F2328"/>
                </a:solidFill>
                <a:latin typeface="Nanum Gothic"/>
                <a:ea typeface="Nanum Gothic"/>
                <a:cs typeface="Nanum Gothic"/>
              </a:rPr>
              <a:t>준비안</a:t>
            </a:r>
          </a:p>
        </p:txBody>
      </p:sp>
      <p:cxnSp>
        <p:nvCxnSpPr>
          <p:cNvPr id="26" name="L:17:25:context-&gt;출력 (예시)"/>
          <p:cNvCxnSpPr>
            <a:stCxn id="18" idx="3"/>
            <a:endCxn id="25" idx="1"/>
          </p:cNvCxnSpPr>
          <p:nvPr/>
        </p:nvCxnSpPr>
        <p:spPr>
          <a:xfrm flipV="1">
            <a:off x="9537192" y="4082796"/>
            <a:ext cx="274320" cy="0"/>
          </a:xfrm>
          <a:prstGeom prst="line">
            <a:avLst/>
          </a:prstGeom>
          <a:ln w="19050">
            <a:solidFill>
              <a:srgbClr val="1F2328"/>
            </a:solidFill>
            <a:tailEnd type="triangle" w="med" len="med"/>
          </a:ln>
        </p:spPr>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7F4"/>
        </a:solidFill>
        <a:effectLst/>
      </p:bgPr>
    </p:bg>
    <p:spTree>
      <p:nvGrpSpPr>
        <p:cNvPr id="1" name=""/>
        <p:cNvGrpSpPr/>
        <p:nvPr/>
      </p:nvGrpSpPr>
      <p:grpSpPr/>
      <p:sp>
        <p:nvSpPr>
          <p:cNvPr id="2" name="T:26:01:meta-left"/>
          <p:cNvSpPr txBox="1"/>
          <p:nvPr/>
        </p:nvSpPr>
        <p:spPr>
          <a:xfrm>
            <a:off x="457200" y="384048"/>
            <a:ext cx="5486400" cy="292608"/>
          </a:xfrm>
          <a:prstGeom prst="rect">
            <a:avLst/>
          </a:prstGeom>
          <a:noFill/>
        </p:spPr>
        <p:txBody>
          <a:bodyPr wrap="square" anchor="ctr" lIns="54864" rIns="54864" tIns="27432" bIns="27432">
            <a:noAutofit/>
          </a:bodyPr>
          <a:lstStyle/>
          <a:p>
            <a:pPr algn="l">
              <a:lnSpc>
                <a:spcPct val="108000"/>
              </a:lnSpc>
            </a:pPr>
            <a:r>
              <a:rPr sz="1600" b="1">
                <a:solidFill>
                  <a:srgbClr val="2B5FA8"/>
                </a:solidFill>
                <a:latin typeface="Nanum Gothic"/>
                <a:ea typeface="Nanum Gothic"/>
                <a:cs typeface="Nanum Gothic"/>
              </a:rPr>
              <a:t>S26</a:t>
            </a:r>
            <a:r>
              <a:rPr sz="1600" b="0">
                <a:solidFill>
                  <a:srgbClr val="5B6470"/>
                </a:solidFill>
                <a:latin typeface="Nanum Gothic"/>
                <a:ea typeface="Nanum Gothic"/>
                <a:cs typeface="Nanum Gothic"/>
              </a:rPr>
              <a:t>   사례   CEO Agent</a:t>
            </a:r>
          </a:p>
        </p:txBody>
      </p:sp>
      <p:sp>
        <p:nvSpPr>
          <p:cNvPr id="3" name="T:26:02:meta-right"/>
          <p:cNvSpPr txBox="1"/>
          <p:nvPr/>
        </p:nvSpPr>
        <p:spPr>
          <a:xfrm>
            <a:off x="5943600" y="384048"/>
            <a:ext cx="5790895" cy="292608"/>
          </a:xfrm>
          <a:prstGeom prst="rect">
            <a:avLst/>
          </a:prstGeom>
          <a:noFill/>
        </p:spPr>
        <p:txBody>
          <a:bodyPr wrap="square" anchor="ctr" lIns="54864" rIns="54864" tIns="27432" bIns="27432">
            <a:noAutofit/>
          </a:bodyPr>
          <a:lstStyle/>
          <a:p>
            <a:pPr algn="r">
              <a:lnSpc>
                <a:spcPct val="108000"/>
              </a:lnSpc>
            </a:pPr>
            <a:r>
              <a:rPr sz="1600" b="0">
                <a:solidFill>
                  <a:srgbClr val="5B6470"/>
                </a:solidFill>
                <a:latin typeface="Nanum Gothic"/>
                <a:ea typeface="Nanum Gothic"/>
                <a:cs typeface="Nanum Gothic"/>
              </a:rPr>
              <a:t>원본 S26   87분부터 90분까지, 3분</a:t>
            </a:r>
          </a:p>
        </p:txBody>
      </p:sp>
      <p:sp>
        <p:nvSpPr>
          <p:cNvPr id="4" name="T:26:03:title"/>
          <p:cNvSpPr txBox="1"/>
          <p:nvPr/>
        </p:nvSpPr>
        <p:spPr>
          <a:xfrm>
            <a:off x="457200" y="713232"/>
            <a:ext cx="11277295" cy="603504"/>
          </a:xfrm>
          <a:prstGeom prst="rect">
            <a:avLst/>
          </a:prstGeom>
          <a:noFill/>
        </p:spPr>
        <p:txBody>
          <a:bodyPr wrap="square" anchor="t" lIns="54864" rIns="54864" tIns="27432" bIns="27432">
            <a:noAutofit/>
          </a:bodyPr>
          <a:lstStyle/>
          <a:p>
            <a:pPr algn="l">
              <a:lnSpc>
                <a:spcPct val="108000"/>
              </a:lnSpc>
            </a:pPr>
            <a:r>
              <a:rPr sz="3600" b="1">
                <a:solidFill>
                  <a:srgbClr val="1F2328"/>
                </a:solidFill>
                <a:latin typeface="Nanum Gothic"/>
                <a:ea typeface="Nanum Gothic"/>
                <a:cs typeface="Nanum Gothic"/>
              </a:rPr>
              <a:t>CEO Agent: 조사한 페르소나를 상황에 맞게 적용하기</a:t>
            </a:r>
          </a:p>
        </p:txBody>
      </p:sp>
      <p:sp>
        <p:nvSpPr>
          <p:cNvPr id="5" name="B:26:04:question"/>
          <p:cNvSpPr/>
          <p:nvPr/>
        </p:nvSpPr>
        <p:spPr>
          <a:xfrm>
            <a:off x="457200" y="1426464"/>
            <a:ext cx="11277295" cy="548640"/>
          </a:xfrm>
          <a:prstGeom prst="rect">
            <a:avLst/>
          </a:prstGeom>
          <a:solidFill>
            <a:srgbClr val="E9ECF1"/>
          </a:solidFill>
          <a:ln>
            <a:noFill/>
          </a:ln>
          <a:effectLst/>
        </p:spPr>
        <p:txBody>
          <a:bodyPr rtlCol="0" anchor="ctr" wrap="square" lIns="274320" rIns="54864" tIns="27432" bIns="27432">
            <a:noAutofit/>
          </a:bodyPr>
          <a:lstStyle/>
          <a:p>
            <a:pPr algn="l">
              <a:lnSpc>
                <a:spcPct val="108000"/>
              </a:lnSpc>
            </a:pPr>
            <a:r>
              <a:rPr sz="2000" b="1">
                <a:solidFill>
                  <a:srgbClr val="2B5FA8"/>
                </a:solidFill>
                <a:latin typeface="Nanum Gothic"/>
                <a:ea typeface="Nanum Gothic"/>
                <a:cs typeface="Nanum Gothic"/>
              </a:rPr>
              <a:t>질문   </a:t>
            </a:r>
            <a:r>
              <a:rPr sz="2400" b="0">
                <a:solidFill>
                  <a:srgbClr val="1F2328"/>
                </a:solidFill>
                <a:latin typeface="Nanum Gothic"/>
                <a:ea typeface="Nanum Gothic"/>
                <a:cs typeface="Nanum Gothic"/>
              </a:rPr>
              <a:t>같은 사실이라면 사내 보고와 외부 발언의 강조도 같아야 할까?</a:t>
            </a:r>
          </a:p>
        </p:txBody>
      </p:sp>
      <p:sp>
        <p:nvSpPr>
          <p:cNvPr id="6" name="B:26:05:question-accent"/>
          <p:cNvSpPr/>
          <p:nvPr/>
        </p:nvSpPr>
        <p:spPr>
          <a:xfrm>
            <a:off x="457200" y="1426464"/>
            <a:ext cx="73152" cy="548640"/>
          </a:xfrm>
          <a:prstGeom prst="rect">
            <a:avLst/>
          </a:prstGeom>
          <a:solidFill>
            <a:srgbClr val="2B5FA8"/>
          </a:solidFill>
          <a:ln>
            <a:noFill/>
          </a:ln>
          <a:effectLst/>
        </p:spPr>
        <p:txBody>
          <a:bodyPr rtlCol="0" anchor="ctr"/>
          <a:lstStyle/>
          <a:p>
            <a:pPr algn="ctr"/>
          </a:p>
        </p:txBody>
      </p:sp>
      <p:sp>
        <p:nvSpPr>
          <p:cNvPr id="7" name="T:26:06:lead"/>
          <p:cNvSpPr txBox="1"/>
          <p:nvPr/>
        </p:nvSpPr>
        <p:spPr>
          <a:xfrm>
            <a:off x="457200" y="2084832"/>
            <a:ext cx="11277295" cy="457200"/>
          </a:xfrm>
          <a:prstGeom prst="rect">
            <a:avLst/>
          </a:prstGeom>
          <a:noFill/>
        </p:spPr>
        <p:txBody>
          <a:bodyPr wrap="square" anchor="ctr" lIns="54864" rIns="54864" tIns="27432" bIns="27432">
            <a:noAutofit/>
          </a:bodyPr>
          <a:lstStyle/>
          <a:p>
            <a:pPr algn="l">
              <a:lnSpc>
                <a:spcPct val="108000"/>
              </a:lnSpc>
            </a:pPr>
            <a:r>
              <a:rPr sz="2000" b="1">
                <a:solidFill>
                  <a:srgbClr val="2B5FA8"/>
                </a:solidFill>
                <a:latin typeface="Nanum Gothic"/>
                <a:ea typeface="Nanum Gothic"/>
                <a:cs typeface="Nanum Gothic"/>
              </a:rPr>
              <a:t>핵심   </a:t>
            </a:r>
            <a:r>
              <a:rPr sz="2400" b="1">
                <a:solidFill>
                  <a:srgbClr val="1F2328"/>
                </a:solidFill>
                <a:latin typeface="Nanum Gothic"/>
                <a:ea typeface="Nanum Gothic"/>
                <a:cs typeface="Nanum Gothic"/>
              </a:rPr>
              <a:t>조사한 근거에서 나온 페르소나를 과업, 독자, 자리에 맞게 고른다.</a:t>
            </a:r>
          </a:p>
        </p:txBody>
      </p:sp>
      <p:sp>
        <p:nvSpPr>
          <p:cNvPr id="8" name="T:26:07:footnote"/>
          <p:cNvSpPr txBox="1"/>
          <p:nvPr/>
        </p:nvSpPr>
        <p:spPr>
          <a:xfrm>
            <a:off x="457200" y="6108192"/>
            <a:ext cx="11277295" cy="347472"/>
          </a:xfrm>
          <a:prstGeom prst="rect">
            <a:avLst/>
          </a:prstGeom>
          <a:noFill/>
        </p:spPr>
        <p:txBody>
          <a:bodyPr wrap="square" anchor="ctr" lIns="54864" rIns="54864" tIns="27432" bIns="27432">
            <a:noAutofit/>
          </a:bodyPr>
          <a:lstStyle/>
          <a:p>
            <a:pPr algn="l">
              <a:lnSpc>
                <a:spcPct val="108000"/>
              </a:lnSpc>
            </a:pPr>
            <a:r>
              <a:rPr sz="1600" b="0">
                <a:solidFill>
                  <a:srgbClr val="5B6470"/>
                </a:solidFill>
                <a:latin typeface="Nanum Gothic"/>
                <a:ea typeface="Nanum Gothic"/>
                <a:cs typeface="Nanum Gothic"/>
              </a:rPr>
              <a:t>2차 언론 보도는 보조 근거로만 쓴다. 원자료와 인물 정보는 공개하지 않으며, 모델을 학습시키지 않는다.</a:t>
            </a:r>
          </a:p>
        </p:txBody>
      </p:sp>
      <p:sp>
        <p:nvSpPr>
          <p:cNvPr id="9" name="B:26:08:lane-조사"/>
          <p:cNvSpPr/>
          <p:nvPr/>
        </p:nvSpPr>
        <p:spPr>
          <a:xfrm>
            <a:off x="457200" y="2724912"/>
            <a:ext cx="11277295" cy="1298448"/>
          </a:xfrm>
          <a:prstGeom prst="rect">
            <a:avLst/>
          </a:prstGeom>
          <a:solidFill>
            <a:srgbClr val="E9ECF1"/>
          </a:solidFill>
          <a:ln>
            <a:noFill/>
          </a:ln>
          <a:effectLst/>
        </p:spPr>
        <p:txBody>
          <a:bodyPr rtlCol="0" anchor="ctr"/>
          <a:lstStyle/>
          <a:p>
            <a:pPr algn="ctr"/>
          </a:p>
        </p:txBody>
      </p:sp>
      <p:sp>
        <p:nvSpPr>
          <p:cNvPr id="10" name="T:26:09:lane-label-조사"/>
          <p:cNvSpPr txBox="1"/>
          <p:nvPr/>
        </p:nvSpPr>
        <p:spPr>
          <a:xfrm>
            <a:off x="566928" y="2724912"/>
            <a:ext cx="1463040" cy="1298448"/>
          </a:xfrm>
          <a:prstGeom prst="rect">
            <a:avLst/>
          </a:prstGeom>
          <a:noFill/>
        </p:spPr>
        <p:txBody>
          <a:bodyPr wrap="square" anchor="ctr" lIns="54864" rIns="54864" tIns="27432" bIns="27432">
            <a:noAutofit/>
          </a:bodyPr>
          <a:lstStyle/>
          <a:p>
            <a:pPr algn="l">
              <a:lnSpc>
                <a:spcPct val="108000"/>
              </a:lnSpc>
            </a:pPr>
            <a:r>
              <a:rPr sz="2000" b="1">
                <a:solidFill>
                  <a:srgbClr val="2B5FA8"/>
                </a:solidFill>
                <a:latin typeface="Nanum Gothic"/>
                <a:ea typeface="Nanum Gothic"/>
                <a:cs typeface="Nanum Gothic"/>
              </a:rPr>
              <a:t>조사</a:t>
            </a:r>
          </a:p>
          <a:p>
            <a:pPr algn="l">
              <a:lnSpc>
                <a:spcPct val="108000"/>
              </a:lnSpc>
            </a:pPr>
            <a:r>
              <a:rPr sz="1600" b="0">
                <a:solidFill>
                  <a:srgbClr val="5B6470"/>
                </a:solidFill>
                <a:latin typeface="Nanum Gothic"/>
                <a:ea typeface="Nanum Gothic"/>
                <a:cs typeface="Nanum Gothic"/>
              </a:rPr>
              <a:t>RESEARCH</a:t>
            </a:r>
          </a:p>
        </p:txBody>
      </p:sp>
      <p:sp>
        <p:nvSpPr>
          <p:cNvPr id="11" name="B:26:10:lane-실행"/>
          <p:cNvSpPr/>
          <p:nvPr/>
        </p:nvSpPr>
        <p:spPr>
          <a:xfrm>
            <a:off x="457200" y="4096512"/>
            <a:ext cx="11277295" cy="960120"/>
          </a:xfrm>
          <a:prstGeom prst="rect">
            <a:avLst/>
          </a:prstGeom>
          <a:solidFill>
            <a:srgbClr val="E9ECF1"/>
          </a:solidFill>
          <a:ln>
            <a:noFill/>
          </a:ln>
          <a:effectLst/>
        </p:spPr>
        <p:txBody>
          <a:bodyPr rtlCol="0" anchor="ctr"/>
          <a:lstStyle/>
          <a:p>
            <a:pPr algn="ctr"/>
          </a:p>
        </p:txBody>
      </p:sp>
      <p:sp>
        <p:nvSpPr>
          <p:cNvPr id="12" name="T:26:11:lane-label-실행"/>
          <p:cNvSpPr txBox="1"/>
          <p:nvPr/>
        </p:nvSpPr>
        <p:spPr>
          <a:xfrm>
            <a:off x="566928" y="4096512"/>
            <a:ext cx="1463040" cy="960120"/>
          </a:xfrm>
          <a:prstGeom prst="rect">
            <a:avLst/>
          </a:prstGeom>
          <a:noFill/>
        </p:spPr>
        <p:txBody>
          <a:bodyPr wrap="square" anchor="ctr" lIns="54864" rIns="54864" tIns="27432" bIns="27432">
            <a:noAutofit/>
          </a:bodyPr>
          <a:lstStyle/>
          <a:p>
            <a:pPr algn="l">
              <a:lnSpc>
                <a:spcPct val="108000"/>
              </a:lnSpc>
            </a:pPr>
            <a:r>
              <a:rPr sz="2000" b="1">
                <a:solidFill>
                  <a:srgbClr val="2B5FA8"/>
                </a:solidFill>
                <a:latin typeface="Nanum Gothic"/>
                <a:ea typeface="Nanum Gothic"/>
                <a:cs typeface="Nanum Gothic"/>
              </a:rPr>
              <a:t>실행</a:t>
            </a:r>
          </a:p>
          <a:p>
            <a:pPr algn="l">
              <a:lnSpc>
                <a:spcPct val="108000"/>
              </a:lnSpc>
            </a:pPr>
            <a:r>
              <a:rPr sz="1600" b="0">
                <a:solidFill>
                  <a:srgbClr val="5B6470"/>
                </a:solidFill>
                <a:latin typeface="Nanum Gothic"/>
                <a:ea typeface="Nanum Gothic"/>
                <a:cs typeface="Nanum Gothic"/>
              </a:rPr>
              <a:t>EXECUTION</a:t>
            </a:r>
          </a:p>
        </p:txBody>
      </p:sp>
      <p:sp>
        <p:nvSpPr>
          <p:cNvPr id="13" name="N:26:12:본인이 쓴 글과 서신"/>
          <p:cNvSpPr/>
          <p:nvPr/>
        </p:nvSpPr>
        <p:spPr>
          <a:xfrm>
            <a:off x="2103120" y="2798064"/>
            <a:ext cx="2514600" cy="365760"/>
          </a:xfrm>
          <a:prstGeom prst="roundRect">
            <a:avLst>
              <a:gd name="adj" fmla="val 22499"/>
            </a:avLst>
          </a:prstGeom>
          <a:solidFill>
            <a:srgbClr val="FFFFFF"/>
          </a:solidFill>
          <a:ln>
            <a:no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본인이 쓴 글과 서신</a:t>
            </a:r>
          </a:p>
        </p:txBody>
      </p:sp>
      <p:sp>
        <p:nvSpPr>
          <p:cNvPr id="14" name="N:26:13:본인 편집 변경 기록"/>
          <p:cNvSpPr/>
          <p:nvPr/>
        </p:nvSpPr>
        <p:spPr>
          <a:xfrm>
            <a:off x="2103120" y="3200400"/>
            <a:ext cx="2514600" cy="365760"/>
          </a:xfrm>
          <a:prstGeom prst="roundRect">
            <a:avLst>
              <a:gd name="adj" fmla="val 22499"/>
            </a:avLst>
          </a:prstGeom>
          <a:solidFill>
            <a:srgbClr val="FFFFFF"/>
          </a:solidFill>
          <a:ln>
            <a:no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본인 편집 변경 기록</a:t>
            </a:r>
          </a:p>
        </p:txBody>
      </p:sp>
      <p:sp>
        <p:nvSpPr>
          <p:cNvPr id="15" name="N:26:14:실제 피드백"/>
          <p:cNvSpPr/>
          <p:nvPr/>
        </p:nvSpPr>
        <p:spPr>
          <a:xfrm>
            <a:off x="2103120" y="3602736"/>
            <a:ext cx="2514600" cy="365760"/>
          </a:xfrm>
          <a:prstGeom prst="roundRect">
            <a:avLst>
              <a:gd name="adj" fmla="val 22499"/>
            </a:avLst>
          </a:prstGeom>
          <a:solidFill>
            <a:srgbClr val="FFFFFF"/>
          </a:solidFill>
          <a:ln>
            <a:no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실제 피드백</a:t>
            </a:r>
          </a:p>
        </p:txBody>
      </p:sp>
      <p:sp>
        <p:nvSpPr>
          <p:cNvPr id="16" name="N:26:15:상황별"/>
          <p:cNvSpPr/>
          <p:nvPr/>
        </p:nvSpPr>
        <p:spPr>
          <a:xfrm>
            <a:off x="4983480" y="2999232"/>
            <a:ext cx="1463040" cy="749808"/>
          </a:xfrm>
          <a:prstGeom prst="roundRect">
            <a:avLst>
              <a:gd name="adj" fmla="val 10975"/>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상황별</a:t>
            </a:r>
          </a:p>
          <a:p>
            <a:pPr algn="ctr">
              <a:lnSpc>
                <a:spcPct val="108000"/>
              </a:lnSpc>
            </a:pPr>
            <a:r>
              <a:rPr sz="2000" b="0">
                <a:solidFill>
                  <a:srgbClr val="1F2328"/>
                </a:solidFill>
                <a:latin typeface="Nanum Gothic"/>
                <a:ea typeface="Nanum Gothic"/>
                <a:cs typeface="Nanum Gothic"/>
              </a:rPr>
              <a:t>특성</a:t>
            </a:r>
          </a:p>
        </p:txBody>
      </p:sp>
      <p:sp>
        <p:nvSpPr>
          <p:cNvPr id="17" name="N:26:16:페르소나"/>
          <p:cNvSpPr/>
          <p:nvPr/>
        </p:nvSpPr>
        <p:spPr>
          <a:xfrm>
            <a:off x="6812280" y="2999232"/>
            <a:ext cx="1463040" cy="749808"/>
          </a:xfrm>
          <a:prstGeom prst="roundRect">
            <a:avLst>
              <a:gd name="adj" fmla="val 10975"/>
            </a:avLst>
          </a:prstGeom>
          <a:solidFill>
            <a:srgbClr val="E7EEF8"/>
          </a:solidFill>
          <a:ln w="28575">
            <a:solidFill>
              <a:srgbClr val="2B5FA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페르소나</a:t>
            </a:r>
          </a:p>
          <a:p>
            <a:pPr algn="ctr">
              <a:lnSpc>
                <a:spcPct val="108000"/>
              </a:lnSpc>
            </a:pPr>
            <a:r>
              <a:rPr sz="2000" b="0">
                <a:solidFill>
                  <a:srgbClr val="1F2328"/>
                </a:solidFill>
                <a:latin typeface="Nanum Gothic"/>
                <a:ea typeface="Nanum Gothic"/>
                <a:cs typeface="Nanum Gothic"/>
              </a:rPr>
              <a:t>명세</a:t>
            </a:r>
          </a:p>
        </p:txBody>
      </p:sp>
      <p:sp>
        <p:nvSpPr>
          <p:cNvPr id="18" name="N:26:17:사람"/>
          <p:cNvSpPr/>
          <p:nvPr/>
        </p:nvSpPr>
        <p:spPr>
          <a:xfrm>
            <a:off x="10195560" y="2999232"/>
            <a:ext cx="1538935" cy="749808"/>
          </a:xfrm>
          <a:prstGeom prst="roundRect">
            <a:avLst>
              <a:gd name="adj" fmla="val 10975"/>
            </a:avLst>
          </a:prstGeom>
          <a:solidFill>
            <a:srgbClr val="FFFFFF"/>
          </a:solidFill>
          <a:ln w="38100">
            <a:solidFill>
              <a:srgbClr val="B45309"/>
            </a:solidFill>
          </a:ln>
          <a:effectLst/>
        </p:spPr>
        <p:txBody>
          <a:bodyPr rtlCol="0" anchor="ctr" wrap="square" lIns="54864" rIns="54864" tIns="27432" bIns="27432">
            <a:noAutofit/>
          </a:bodyPr>
          <a:lstStyle/>
          <a:p>
            <a:pPr algn="ctr">
              <a:lnSpc>
                <a:spcPct val="108000"/>
              </a:lnSpc>
            </a:pPr>
            <a:r>
              <a:rPr sz="2000" b="1">
                <a:solidFill>
                  <a:srgbClr val="1F2328"/>
                </a:solidFill>
                <a:latin typeface="Nanum Gothic"/>
                <a:ea typeface="Nanum Gothic"/>
                <a:cs typeface="Nanum Gothic"/>
              </a:rPr>
              <a:t>사람</a:t>
            </a:r>
          </a:p>
          <a:p>
            <a:pPr algn="ctr">
              <a:lnSpc>
                <a:spcPct val="108000"/>
              </a:lnSpc>
            </a:pPr>
            <a:r>
              <a:rPr sz="2000" b="1">
                <a:solidFill>
                  <a:srgbClr val="1F2328"/>
                </a:solidFill>
                <a:latin typeface="Nanum Gothic"/>
                <a:ea typeface="Nanum Gothic"/>
                <a:cs typeface="Nanum Gothic"/>
              </a:rPr>
              <a:t>피드백</a:t>
            </a:r>
          </a:p>
        </p:txBody>
      </p:sp>
      <p:cxnSp>
        <p:nvCxnSpPr>
          <p:cNvPr id="19" name="L:26:18:본인 편집 변경 기록-&gt;상황별"/>
          <p:cNvCxnSpPr>
            <a:stCxn id="14" idx="3"/>
            <a:endCxn id="16" idx="1"/>
          </p:cNvCxnSpPr>
          <p:nvPr/>
        </p:nvCxnSpPr>
        <p:spPr>
          <a:xfrm flipV="1">
            <a:off x="4617720" y="3374136"/>
            <a:ext cx="365760" cy="9144"/>
          </a:xfrm>
          <a:prstGeom prst="line">
            <a:avLst/>
          </a:prstGeom>
          <a:ln w="19050">
            <a:solidFill>
              <a:srgbClr val="1F2328"/>
            </a:solidFill>
            <a:tailEnd type="triangle" w="med" len="med"/>
          </a:ln>
        </p:spPr>
      </p:cxnSp>
      <p:cxnSp>
        <p:nvCxnSpPr>
          <p:cNvPr id="20" name="L:26:19:상황별-&gt;페르소나"/>
          <p:cNvCxnSpPr>
            <a:stCxn id="16" idx="3"/>
            <a:endCxn id="17" idx="1"/>
          </p:cNvCxnSpPr>
          <p:nvPr/>
        </p:nvCxnSpPr>
        <p:spPr>
          <a:xfrm flipV="1">
            <a:off x="6446520" y="3374136"/>
            <a:ext cx="365760" cy="0"/>
          </a:xfrm>
          <a:prstGeom prst="line">
            <a:avLst/>
          </a:prstGeom>
          <a:ln w="19050">
            <a:solidFill>
              <a:srgbClr val="1F2328"/>
            </a:solidFill>
            <a:tailEnd type="triangle" w="med" len="med"/>
          </a:ln>
        </p:spPr>
      </p:cxnSp>
      <p:sp>
        <p:nvSpPr>
          <p:cNvPr id="21" name="N:26:20:관찰과 가설은"/>
          <p:cNvSpPr/>
          <p:nvPr/>
        </p:nvSpPr>
        <p:spPr>
          <a:xfrm>
            <a:off x="2103120" y="4210812"/>
            <a:ext cx="2514600" cy="731520"/>
          </a:xfrm>
          <a:prstGeom prst="roundRect">
            <a:avLst>
              <a:gd name="adj" fmla="val 11249"/>
            </a:avLst>
          </a:prstGeom>
          <a:noFill/>
          <a:ln w="12700">
            <a:solidFill>
              <a:srgbClr val="5B6470"/>
            </a:solidFill>
            <a:prstDash val="dash"/>
          </a:ln>
          <a:effectLst/>
        </p:spPr>
        <p:txBody>
          <a:bodyPr rtlCol="0" anchor="ctr" wrap="square" lIns="54864" rIns="54864" tIns="27432" bIns="27432">
            <a:noAutofit/>
          </a:bodyPr>
          <a:lstStyle/>
          <a:p>
            <a:pPr algn="ctr">
              <a:lnSpc>
                <a:spcPct val="108000"/>
              </a:lnSpc>
            </a:pPr>
            <a:r>
              <a:rPr sz="2000" b="0">
                <a:solidFill>
                  <a:srgbClr val="5B6470"/>
                </a:solidFill>
                <a:latin typeface="Nanum Gothic"/>
                <a:ea typeface="Nanum Gothic"/>
                <a:cs typeface="Nanum Gothic"/>
              </a:rPr>
              <a:t>관찰과 가설은</a:t>
            </a:r>
          </a:p>
          <a:p>
            <a:pPr algn="ctr">
              <a:lnSpc>
                <a:spcPct val="108000"/>
              </a:lnSpc>
            </a:pPr>
            <a:r>
              <a:rPr sz="2000" b="0">
                <a:solidFill>
                  <a:srgbClr val="5B6470"/>
                </a:solidFill>
                <a:latin typeface="Nanum Gothic"/>
                <a:ea typeface="Nanum Gothic"/>
                <a:cs typeface="Nanum Gothic"/>
              </a:rPr>
              <a:t>구분해 표시</a:t>
            </a:r>
          </a:p>
        </p:txBody>
      </p:sp>
      <p:sp>
        <p:nvSpPr>
          <p:cNvPr id="22" name="N:26:21:과업, 독자,"/>
          <p:cNvSpPr/>
          <p:nvPr/>
        </p:nvSpPr>
        <p:spPr>
          <a:xfrm>
            <a:off x="4983480" y="4210812"/>
            <a:ext cx="1463040" cy="731520"/>
          </a:xfrm>
          <a:prstGeom prst="roundRect">
            <a:avLst>
              <a:gd name="adj" fmla="val 11249"/>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과업, 독자,</a:t>
            </a:r>
          </a:p>
          <a:p>
            <a:pPr algn="ctr">
              <a:lnSpc>
                <a:spcPct val="108000"/>
              </a:lnSpc>
            </a:pPr>
            <a:r>
              <a:rPr sz="2000" b="0">
                <a:solidFill>
                  <a:srgbClr val="1F2328"/>
                </a:solidFill>
                <a:latin typeface="Nanum Gothic"/>
                <a:ea typeface="Nanum Gothic"/>
                <a:cs typeface="Nanum Gothic"/>
              </a:rPr>
              <a:t>자리</a:t>
            </a:r>
          </a:p>
        </p:txBody>
      </p:sp>
      <p:sp>
        <p:nvSpPr>
          <p:cNvPr id="23" name="N:26:22:등록과"/>
          <p:cNvSpPr/>
          <p:nvPr/>
        </p:nvSpPr>
        <p:spPr>
          <a:xfrm>
            <a:off x="6812280" y="4210812"/>
            <a:ext cx="1463040" cy="731520"/>
          </a:xfrm>
          <a:prstGeom prst="roundRect">
            <a:avLst>
              <a:gd name="adj" fmla="val 11249"/>
            </a:avLst>
          </a:prstGeom>
          <a:solidFill>
            <a:srgbClr val="E7EEF8"/>
          </a:solidFill>
          <a:ln w="28575">
            <a:solidFill>
              <a:srgbClr val="2B5FA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등록과</a:t>
            </a:r>
          </a:p>
          <a:p>
            <a:pPr algn="ctr">
              <a:lnSpc>
                <a:spcPct val="108000"/>
              </a:lnSpc>
            </a:pPr>
            <a:r>
              <a:rPr sz="2000" b="0">
                <a:solidFill>
                  <a:srgbClr val="1F2328"/>
                </a:solidFill>
                <a:latin typeface="Nanum Gothic"/>
                <a:ea typeface="Nanum Gothic"/>
                <a:cs typeface="Nanum Gothic"/>
              </a:rPr>
              <a:t>기준 선택</a:t>
            </a:r>
          </a:p>
        </p:txBody>
      </p:sp>
      <p:sp>
        <p:nvSpPr>
          <p:cNvPr id="24" name="N:26:23:관련"/>
          <p:cNvSpPr/>
          <p:nvPr/>
        </p:nvSpPr>
        <p:spPr>
          <a:xfrm>
            <a:off x="8549640" y="4210812"/>
            <a:ext cx="1417320" cy="731520"/>
          </a:xfrm>
          <a:prstGeom prst="roundRect">
            <a:avLst>
              <a:gd name="adj" fmla="val 11249"/>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관련</a:t>
            </a:r>
          </a:p>
          <a:p>
            <a:pPr algn="ctr">
              <a:lnSpc>
                <a:spcPct val="108000"/>
              </a:lnSpc>
            </a:pPr>
            <a:r>
              <a:rPr sz="2000" b="0">
                <a:solidFill>
                  <a:srgbClr val="1F2328"/>
                </a:solidFill>
                <a:latin typeface="Nanum Gothic"/>
                <a:ea typeface="Nanum Gothic"/>
                <a:cs typeface="Nanum Gothic"/>
              </a:rPr>
              <a:t>맥락만</a:t>
            </a:r>
          </a:p>
        </p:txBody>
      </p:sp>
      <p:sp>
        <p:nvSpPr>
          <p:cNvPr id="25" name="N:26:24:결과물"/>
          <p:cNvSpPr/>
          <p:nvPr/>
        </p:nvSpPr>
        <p:spPr>
          <a:xfrm>
            <a:off x="10195560" y="4210812"/>
            <a:ext cx="1538935" cy="731520"/>
          </a:xfrm>
          <a:prstGeom prst="roundRect">
            <a:avLst>
              <a:gd name="adj" fmla="val 11249"/>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결과물</a:t>
            </a:r>
          </a:p>
        </p:txBody>
      </p:sp>
      <p:cxnSp>
        <p:nvCxnSpPr>
          <p:cNvPr id="26" name="L:26:25:페르소나-&gt;등록과"/>
          <p:cNvCxnSpPr>
            <a:stCxn id="17" idx="2"/>
            <a:endCxn id="23" idx="0"/>
          </p:cNvCxnSpPr>
          <p:nvPr/>
        </p:nvCxnSpPr>
        <p:spPr>
          <a:xfrm flipH="1">
            <a:off x="7543800" y="3749040"/>
            <a:ext cx="0" cy="461772"/>
          </a:xfrm>
          <a:prstGeom prst="line">
            <a:avLst/>
          </a:prstGeom>
          <a:ln w="28575">
            <a:solidFill>
              <a:srgbClr val="2B5FA8"/>
            </a:solidFill>
            <a:tailEnd type="triangle" w="med" len="med"/>
          </a:ln>
        </p:spPr>
      </p:cxnSp>
      <p:cxnSp>
        <p:nvCxnSpPr>
          <p:cNvPr id="27" name="L:26:26:과업, 독자,-&gt;등록과"/>
          <p:cNvCxnSpPr>
            <a:stCxn id="22" idx="3"/>
            <a:endCxn id="23" idx="1"/>
          </p:cNvCxnSpPr>
          <p:nvPr/>
        </p:nvCxnSpPr>
        <p:spPr>
          <a:xfrm flipV="1">
            <a:off x="6446520" y="4576572"/>
            <a:ext cx="365760" cy="0"/>
          </a:xfrm>
          <a:prstGeom prst="line">
            <a:avLst/>
          </a:prstGeom>
          <a:ln w="19050">
            <a:solidFill>
              <a:srgbClr val="1F2328"/>
            </a:solidFill>
            <a:tailEnd type="triangle" w="med" len="med"/>
          </a:ln>
        </p:spPr>
      </p:cxnSp>
      <p:cxnSp>
        <p:nvCxnSpPr>
          <p:cNvPr id="28" name="L:26:27:등록과-&gt;관련"/>
          <p:cNvCxnSpPr>
            <a:stCxn id="23" idx="3"/>
            <a:endCxn id="24" idx="1"/>
          </p:cNvCxnSpPr>
          <p:nvPr/>
        </p:nvCxnSpPr>
        <p:spPr>
          <a:xfrm flipV="1">
            <a:off x="8275320" y="4576572"/>
            <a:ext cx="274320" cy="0"/>
          </a:xfrm>
          <a:prstGeom prst="line">
            <a:avLst/>
          </a:prstGeom>
          <a:ln w="19050">
            <a:solidFill>
              <a:srgbClr val="1F2328"/>
            </a:solidFill>
            <a:tailEnd type="triangle" w="med" len="med"/>
          </a:ln>
        </p:spPr>
      </p:cxnSp>
      <p:cxnSp>
        <p:nvCxnSpPr>
          <p:cNvPr id="29" name="L:26:28:관련-&gt;결과물"/>
          <p:cNvCxnSpPr>
            <a:stCxn id="24" idx="3"/>
            <a:endCxn id="25" idx="1"/>
          </p:cNvCxnSpPr>
          <p:nvPr/>
        </p:nvCxnSpPr>
        <p:spPr>
          <a:xfrm flipV="1">
            <a:off x="9966960" y="4576572"/>
            <a:ext cx="228600" cy="0"/>
          </a:xfrm>
          <a:prstGeom prst="line">
            <a:avLst/>
          </a:prstGeom>
          <a:ln w="19050">
            <a:solidFill>
              <a:srgbClr val="1F2328"/>
            </a:solidFill>
            <a:tailEnd type="triangle" w="med" len="med"/>
          </a:ln>
        </p:spPr>
      </p:cxnSp>
      <p:cxnSp>
        <p:nvCxnSpPr>
          <p:cNvPr id="30" name="L:26:29:결과물-&gt;사람"/>
          <p:cNvCxnSpPr>
            <a:stCxn id="25" idx="0"/>
            <a:endCxn id="18" idx="2"/>
          </p:cNvCxnSpPr>
          <p:nvPr/>
        </p:nvCxnSpPr>
        <p:spPr>
          <a:xfrm flipH="1" flipV="1">
            <a:off x="10965027" y="3749040"/>
            <a:ext cx="0" cy="461772"/>
          </a:xfrm>
          <a:prstGeom prst="line">
            <a:avLst/>
          </a:prstGeom>
          <a:ln w="19050">
            <a:solidFill>
              <a:srgbClr val="1F2328"/>
            </a:solidFill>
            <a:tailEnd type="triangle" w="med" len="med"/>
          </a:ln>
        </p:spPr>
      </p:cxnSp>
      <p:cxnSp>
        <p:nvCxnSpPr>
          <p:cNvPr id="31" name="L:26:30:사람-&gt;페르소나"/>
          <p:cNvCxnSpPr>
            <a:stCxn id="18" idx="1"/>
            <a:endCxn id="17" idx="3"/>
          </p:cNvCxnSpPr>
          <p:nvPr/>
        </p:nvCxnSpPr>
        <p:spPr>
          <a:xfrm flipH="1" flipV="1">
            <a:off x="8275320" y="3374136"/>
            <a:ext cx="1920240" cy="0"/>
          </a:xfrm>
          <a:prstGeom prst="line">
            <a:avLst/>
          </a:prstGeom>
          <a:ln w="19050">
            <a:solidFill>
              <a:srgbClr val="5B6470"/>
            </a:solidFill>
            <a:prstDash val="dash"/>
            <a:tailEnd type="triangle" w="med" len="med"/>
          </a:ln>
        </p:spPr>
      </p:cxnSp>
      <p:sp>
        <p:nvSpPr>
          <p:cNvPr id="32" name="N:26:31:같은 사실 (가상)"/>
          <p:cNvSpPr/>
          <p:nvPr/>
        </p:nvSpPr>
        <p:spPr>
          <a:xfrm>
            <a:off x="457200" y="5193792"/>
            <a:ext cx="3749039" cy="749808"/>
          </a:xfrm>
          <a:prstGeom prst="roundRect">
            <a:avLst>
              <a:gd name="adj" fmla="val 10975"/>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같은 사실 (가상)</a:t>
            </a:r>
          </a:p>
          <a:p>
            <a:pPr algn="ctr">
              <a:lnSpc>
                <a:spcPct val="108000"/>
              </a:lnSpc>
            </a:pPr>
            <a:r>
              <a:rPr sz="2000" b="0">
                <a:solidFill>
                  <a:srgbClr val="1F2328"/>
                </a:solidFill>
                <a:latin typeface="Nanum Gothic"/>
                <a:ea typeface="Nanum Gothic"/>
                <a:cs typeface="Nanum Gothic"/>
              </a:rPr>
              <a:t>분기 일정 지연 두 건</a:t>
            </a:r>
          </a:p>
        </p:txBody>
      </p:sp>
      <p:sp>
        <p:nvSpPr>
          <p:cNvPr id="33" name="N:26:32:사내 보고 검수: 원인과 조치 기한을 묻는다"/>
          <p:cNvSpPr/>
          <p:nvPr/>
        </p:nvSpPr>
        <p:spPr>
          <a:xfrm>
            <a:off x="4663440" y="5193792"/>
            <a:ext cx="7071055" cy="365760"/>
          </a:xfrm>
          <a:prstGeom prst="roundRect">
            <a:avLst>
              <a:gd name="adj" fmla="val 22499"/>
            </a:avLst>
          </a:prstGeom>
          <a:solidFill>
            <a:srgbClr val="E9ECF1"/>
          </a:solidFill>
          <a:ln>
            <a:noFill/>
          </a:ln>
          <a:effectLst/>
        </p:spPr>
        <p:txBody>
          <a:bodyPr rtlCol="0" anchor="ctr" wrap="square" lIns="54864" rIns="54864" tIns="27432" bIns="27432">
            <a:noAutofit/>
          </a:bodyPr>
          <a:lstStyle/>
          <a:p>
            <a:pPr algn="l">
              <a:lnSpc>
                <a:spcPct val="108000"/>
              </a:lnSpc>
            </a:pPr>
            <a:r>
              <a:rPr sz="2000" b="0">
                <a:solidFill>
                  <a:srgbClr val="1F2328"/>
                </a:solidFill>
                <a:latin typeface="Nanum Gothic"/>
                <a:ea typeface="Nanum Gothic"/>
                <a:cs typeface="Nanum Gothic"/>
              </a:rPr>
              <a:t>사내 보고 검수: 원인과 조치 기한을 묻는다</a:t>
            </a:r>
          </a:p>
        </p:txBody>
      </p:sp>
      <p:sp>
        <p:nvSpPr>
          <p:cNvPr id="34" name="N:26:33:외부 발언: 같은 사실을 배경과 함께 설명한다"/>
          <p:cNvSpPr/>
          <p:nvPr/>
        </p:nvSpPr>
        <p:spPr>
          <a:xfrm>
            <a:off x="4663440" y="5577840"/>
            <a:ext cx="7071055" cy="365760"/>
          </a:xfrm>
          <a:prstGeom prst="roundRect">
            <a:avLst>
              <a:gd name="adj" fmla="val 22499"/>
            </a:avLst>
          </a:prstGeom>
          <a:solidFill>
            <a:srgbClr val="E9ECF1"/>
          </a:solidFill>
          <a:ln>
            <a:noFill/>
          </a:ln>
          <a:effectLst/>
        </p:spPr>
        <p:txBody>
          <a:bodyPr rtlCol="0" anchor="ctr" wrap="square" lIns="54864" rIns="54864" tIns="27432" bIns="27432">
            <a:noAutofit/>
          </a:bodyPr>
          <a:lstStyle/>
          <a:p>
            <a:pPr algn="l">
              <a:lnSpc>
                <a:spcPct val="108000"/>
              </a:lnSpc>
            </a:pPr>
            <a:r>
              <a:rPr sz="2000" b="0">
                <a:solidFill>
                  <a:srgbClr val="1F2328"/>
                </a:solidFill>
                <a:latin typeface="Nanum Gothic"/>
                <a:ea typeface="Nanum Gothic"/>
                <a:cs typeface="Nanum Gothic"/>
              </a:rPr>
              <a:t>외부 발언: 같은 사실을 배경과 함께 설명한다</a:t>
            </a:r>
          </a:p>
        </p:txBody>
      </p:sp>
      <p:cxnSp>
        <p:nvCxnSpPr>
          <p:cNvPr id="35" name="L:26:34:free"/>
          <p:cNvCxnSpPr/>
          <p:nvPr/>
        </p:nvCxnSpPr>
        <p:spPr>
          <a:xfrm flipV="1">
            <a:off x="4224528" y="5376672"/>
            <a:ext cx="420624" cy="192024"/>
          </a:xfrm>
          <a:prstGeom prst="line">
            <a:avLst/>
          </a:prstGeom>
          <a:ln w="19050">
            <a:solidFill>
              <a:srgbClr val="1F2328"/>
            </a:solidFill>
            <a:tailEnd type="triangle" w="med" len="med"/>
          </a:ln>
        </p:spPr>
      </p:cxnSp>
      <p:cxnSp>
        <p:nvCxnSpPr>
          <p:cNvPr id="36" name="L:26:35:free"/>
          <p:cNvCxnSpPr/>
          <p:nvPr/>
        </p:nvCxnSpPr>
        <p:spPr>
          <a:xfrm>
            <a:off x="4224528" y="5568696"/>
            <a:ext cx="420624" cy="192024"/>
          </a:xfrm>
          <a:prstGeom prst="line">
            <a:avLst/>
          </a:prstGeom>
          <a:ln w="19050">
            <a:solidFill>
              <a:srgbClr val="1F2328"/>
            </a:solidFill>
            <a:tailEnd type="triangle" w="med" len="med"/>
          </a:ln>
        </p:spPr>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7F4"/>
        </a:solidFill>
        <a:effectLst/>
      </p:bgPr>
    </p:bg>
    <p:spTree>
      <p:nvGrpSpPr>
        <p:cNvPr id="1" name=""/>
        <p:cNvGrpSpPr/>
        <p:nvPr/>
      </p:nvGrpSpPr>
      <p:grpSpPr/>
      <p:sp>
        <p:nvSpPr>
          <p:cNvPr id="2" name="T:34:01:meta-left"/>
          <p:cNvSpPr txBox="1"/>
          <p:nvPr/>
        </p:nvSpPr>
        <p:spPr>
          <a:xfrm>
            <a:off x="457200" y="384048"/>
            <a:ext cx="5486400" cy="292608"/>
          </a:xfrm>
          <a:prstGeom prst="rect">
            <a:avLst/>
          </a:prstGeom>
          <a:noFill/>
        </p:spPr>
        <p:txBody>
          <a:bodyPr wrap="square" anchor="ctr" lIns="54864" rIns="54864" tIns="27432" bIns="27432">
            <a:noAutofit/>
          </a:bodyPr>
          <a:lstStyle/>
          <a:p>
            <a:pPr algn="l">
              <a:lnSpc>
                <a:spcPct val="108000"/>
              </a:lnSpc>
            </a:pPr>
            <a:r>
              <a:rPr sz="1600" b="1">
                <a:solidFill>
                  <a:srgbClr val="2B5FA8"/>
                </a:solidFill>
                <a:latin typeface="Nanum Gothic"/>
                <a:ea typeface="Nanum Gothic"/>
                <a:cs typeface="Nanum Gothic"/>
              </a:rPr>
              <a:t>S34</a:t>
            </a:r>
            <a:r>
              <a:rPr sz="1600" b="0">
                <a:solidFill>
                  <a:srgbClr val="5B6470"/>
                </a:solidFill>
                <a:latin typeface="Nanum Gothic"/>
                <a:ea typeface="Nanum Gothic"/>
                <a:cs typeface="Nanum Gothic"/>
              </a:rPr>
              <a:t>   종합</a:t>
            </a:r>
          </a:p>
        </p:txBody>
      </p:sp>
      <p:sp>
        <p:nvSpPr>
          <p:cNvPr id="3" name="T:34:02:meta-right"/>
          <p:cNvSpPr txBox="1"/>
          <p:nvPr/>
        </p:nvSpPr>
        <p:spPr>
          <a:xfrm>
            <a:off x="5943600" y="384048"/>
            <a:ext cx="5790895" cy="292608"/>
          </a:xfrm>
          <a:prstGeom prst="rect">
            <a:avLst/>
          </a:prstGeom>
          <a:noFill/>
        </p:spPr>
        <p:txBody>
          <a:bodyPr wrap="square" anchor="ctr" lIns="54864" rIns="54864" tIns="27432" bIns="27432">
            <a:noAutofit/>
          </a:bodyPr>
          <a:lstStyle/>
          <a:p>
            <a:pPr algn="r">
              <a:lnSpc>
                <a:spcPct val="108000"/>
              </a:lnSpc>
            </a:pPr>
            <a:r>
              <a:rPr sz="1600" b="0">
                <a:solidFill>
                  <a:srgbClr val="5B6470"/>
                </a:solidFill>
                <a:latin typeface="Nanum Gothic"/>
                <a:ea typeface="Nanum Gothic"/>
                <a:cs typeface="Nanum Gothic"/>
              </a:rPr>
              <a:t>원본 S34   111분부터 115분까지, 4분</a:t>
            </a:r>
          </a:p>
        </p:txBody>
      </p:sp>
      <p:sp>
        <p:nvSpPr>
          <p:cNvPr id="4" name="T:34:03:title"/>
          <p:cNvSpPr txBox="1"/>
          <p:nvPr/>
        </p:nvSpPr>
        <p:spPr>
          <a:xfrm>
            <a:off x="457200" y="713232"/>
            <a:ext cx="11277295" cy="603504"/>
          </a:xfrm>
          <a:prstGeom prst="rect">
            <a:avLst/>
          </a:prstGeom>
          <a:noFill/>
        </p:spPr>
        <p:txBody>
          <a:bodyPr wrap="square" anchor="t" lIns="54864" rIns="54864" tIns="27432" bIns="27432">
            <a:noAutofit/>
          </a:bodyPr>
          <a:lstStyle/>
          <a:p>
            <a:pPr algn="l">
              <a:lnSpc>
                <a:spcPct val="108000"/>
              </a:lnSpc>
            </a:pPr>
            <a:r>
              <a:rPr sz="3600" b="1">
                <a:solidFill>
                  <a:srgbClr val="1F2328"/>
                </a:solidFill>
                <a:latin typeface="Nanum Gothic"/>
                <a:ea typeface="Nanum Gothic"/>
                <a:cs typeface="Nanum Gothic"/>
              </a:rPr>
              <a:t>다섯 사례 종합</a:t>
            </a:r>
          </a:p>
        </p:txBody>
      </p:sp>
      <p:sp>
        <p:nvSpPr>
          <p:cNvPr id="5" name="B:34:04:question"/>
          <p:cNvSpPr/>
          <p:nvPr/>
        </p:nvSpPr>
        <p:spPr>
          <a:xfrm>
            <a:off x="457200" y="1426464"/>
            <a:ext cx="11277295" cy="548640"/>
          </a:xfrm>
          <a:prstGeom prst="rect">
            <a:avLst/>
          </a:prstGeom>
          <a:solidFill>
            <a:srgbClr val="E9ECF1"/>
          </a:solidFill>
          <a:ln>
            <a:noFill/>
          </a:ln>
          <a:effectLst/>
        </p:spPr>
        <p:txBody>
          <a:bodyPr rtlCol="0" anchor="ctr" wrap="square" lIns="274320" rIns="54864" tIns="27432" bIns="27432">
            <a:noAutofit/>
          </a:bodyPr>
          <a:lstStyle/>
          <a:p>
            <a:pPr algn="l">
              <a:lnSpc>
                <a:spcPct val="108000"/>
              </a:lnSpc>
            </a:pPr>
            <a:r>
              <a:rPr sz="2000" b="1">
                <a:solidFill>
                  <a:srgbClr val="2B5FA8"/>
                </a:solidFill>
                <a:latin typeface="Nanum Gothic"/>
                <a:ea typeface="Nanum Gothic"/>
                <a:cs typeface="Nanum Gothic"/>
              </a:rPr>
              <a:t>질문   </a:t>
            </a:r>
            <a:r>
              <a:rPr sz="2400" b="0">
                <a:solidFill>
                  <a:srgbClr val="1F2328"/>
                </a:solidFill>
                <a:latin typeface="Nanum Gothic"/>
                <a:ea typeface="Nanum Gothic"/>
                <a:cs typeface="Nanum Gothic"/>
              </a:rPr>
              <a:t>다른 네 사례에서도 같은 질문이 통할까?</a:t>
            </a:r>
          </a:p>
        </p:txBody>
      </p:sp>
      <p:sp>
        <p:nvSpPr>
          <p:cNvPr id="6" name="B:34:05:question-accent"/>
          <p:cNvSpPr/>
          <p:nvPr/>
        </p:nvSpPr>
        <p:spPr>
          <a:xfrm>
            <a:off x="457200" y="1426464"/>
            <a:ext cx="73152" cy="548640"/>
          </a:xfrm>
          <a:prstGeom prst="rect">
            <a:avLst/>
          </a:prstGeom>
          <a:solidFill>
            <a:srgbClr val="2B5FA8"/>
          </a:solidFill>
          <a:ln>
            <a:noFill/>
          </a:ln>
          <a:effectLst/>
        </p:spPr>
        <p:txBody>
          <a:bodyPr rtlCol="0" anchor="ctr"/>
          <a:lstStyle/>
          <a:p>
            <a:pPr algn="ctr"/>
          </a:p>
        </p:txBody>
      </p:sp>
      <p:sp>
        <p:nvSpPr>
          <p:cNvPr id="7" name="T:34:06:lead"/>
          <p:cNvSpPr txBox="1"/>
          <p:nvPr/>
        </p:nvSpPr>
        <p:spPr>
          <a:xfrm>
            <a:off x="457200" y="2084832"/>
            <a:ext cx="11277295" cy="457200"/>
          </a:xfrm>
          <a:prstGeom prst="rect">
            <a:avLst/>
          </a:prstGeom>
          <a:noFill/>
        </p:spPr>
        <p:txBody>
          <a:bodyPr wrap="square" anchor="ctr" lIns="54864" rIns="54864" tIns="27432" bIns="27432">
            <a:noAutofit/>
          </a:bodyPr>
          <a:lstStyle/>
          <a:p>
            <a:pPr algn="l">
              <a:lnSpc>
                <a:spcPct val="108000"/>
              </a:lnSpc>
            </a:pPr>
            <a:r>
              <a:rPr sz="2000" b="1">
                <a:solidFill>
                  <a:srgbClr val="2B5FA8"/>
                </a:solidFill>
                <a:latin typeface="Nanum Gothic"/>
                <a:ea typeface="Nanum Gothic"/>
                <a:cs typeface="Nanum Gothic"/>
              </a:rPr>
              <a:t>핵심   </a:t>
            </a:r>
            <a:r>
              <a:rPr sz="2400" b="1">
                <a:solidFill>
                  <a:srgbClr val="1F2328"/>
                </a:solidFill>
                <a:latin typeface="Nanum Gothic"/>
                <a:ea typeface="Nanum Gothic"/>
                <a:cs typeface="Nanum Gothic"/>
              </a:rPr>
              <a:t>다섯 사례는 같은 요소를 쓰지만, 무게를 두는 곳이 다르다.</a:t>
            </a:r>
          </a:p>
        </p:txBody>
      </p:sp>
      <p:sp>
        <p:nvSpPr>
          <p:cNvPr id="8" name="T:34:07:footnote"/>
          <p:cNvSpPr txBox="1"/>
          <p:nvPr/>
        </p:nvSpPr>
        <p:spPr>
          <a:xfrm>
            <a:off x="457200" y="6108192"/>
            <a:ext cx="11277295" cy="347472"/>
          </a:xfrm>
          <a:prstGeom prst="rect">
            <a:avLst/>
          </a:prstGeom>
          <a:noFill/>
        </p:spPr>
        <p:txBody>
          <a:bodyPr wrap="square" anchor="ctr" lIns="54864" rIns="54864" tIns="27432" bIns="27432">
            <a:noAutofit/>
          </a:bodyPr>
          <a:lstStyle/>
          <a:p>
            <a:pPr algn="l">
              <a:lnSpc>
                <a:spcPct val="108000"/>
              </a:lnSpc>
            </a:pPr>
            <a:r>
              <a:rPr sz="1600" b="0">
                <a:solidFill>
                  <a:srgbClr val="5B6470"/>
                </a:solidFill>
                <a:latin typeface="Nanum Gothic"/>
                <a:ea typeface="Nanum Gothic"/>
                <a:cs typeface="Nanum Gothic"/>
              </a:rPr>
              <a:t>성과를 비교한 그림이 아니다. Grokbot은 사용자 설명만 쓰며 출처를 확인하지 않았다.</a:t>
            </a:r>
          </a:p>
        </p:txBody>
      </p:sp>
      <p:sp>
        <p:nvSpPr>
          <p:cNvPr id="9" name="N:34:08:원문 보존"/>
          <p:cNvSpPr/>
          <p:nvPr/>
        </p:nvSpPr>
        <p:spPr>
          <a:xfrm>
            <a:off x="457200" y="2724912"/>
            <a:ext cx="1920240" cy="457200"/>
          </a:xfrm>
          <a:prstGeom prst="roundRect">
            <a:avLst>
              <a:gd name="adj" fmla="val 18000"/>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원문 보존</a:t>
            </a:r>
          </a:p>
        </p:txBody>
      </p:sp>
      <p:sp>
        <p:nvSpPr>
          <p:cNvPr id="10" name="N:34:09:최종 확정"/>
          <p:cNvSpPr/>
          <p:nvPr/>
        </p:nvSpPr>
        <p:spPr>
          <a:xfrm>
            <a:off x="2743200" y="2724912"/>
            <a:ext cx="1920240" cy="457200"/>
          </a:xfrm>
          <a:prstGeom prst="roundRect">
            <a:avLst>
              <a:gd name="adj" fmla="val 18000"/>
            </a:avLst>
          </a:prstGeom>
          <a:solidFill>
            <a:srgbClr val="FFFFFF"/>
          </a:solidFill>
          <a:ln w="38100">
            <a:solidFill>
              <a:srgbClr val="B45309"/>
            </a:solidFill>
          </a:ln>
          <a:effectLst/>
        </p:spPr>
        <p:txBody>
          <a:bodyPr rtlCol="0" anchor="ctr" wrap="square" lIns="54864" rIns="54864" tIns="27432" bIns="27432">
            <a:noAutofit/>
          </a:bodyPr>
          <a:lstStyle/>
          <a:p>
            <a:pPr algn="ctr">
              <a:lnSpc>
                <a:spcPct val="108000"/>
              </a:lnSpc>
            </a:pPr>
            <a:r>
              <a:rPr sz="2000" b="1">
                <a:solidFill>
                  <a:srgbClr val="1F2328"/>
                </a:solidFill>
                <a:latin typeface="Nanum Gothic"/>
                <a:ea typeface="Nanum Gothic"/>
                <a:cs typeface="Nanum Gothic"/>
              </a:rPr>
              <a:t>최종 확정</a:t>
            </a:r>
          </a:p>
        </p:txBody>
      </p:sp>
      <p:sp>
        <p:nvSpPr>
          <p:cNvPr id="11" name="N:34:10:삽화와 보관"/>
          <p:cNvSpPr/>
          <p:nvPr/>
        </p:nvSpPr>
        <p:spPr>
          <a:xfrm>
            <a:off x="5029200" y="2724912"/>
            <a:ext cx="1920240" cy="457200"/>
          </a:xfrm>
          <a:prstGeom prst="roundRect">
            <a:avLst>
              <a:gd name="adj" fmla="val 18000"/>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삽화와 보관</a:t>
            </a:r>
          </a:p>
        </p:txBody>
      </p:sp>
      <p:sp>
        <p:nvSpPr>
          <p:cNvPr id="12" name="N:34:11:비공개 초안"/>
          <p:cNvSpPr/>
          <p:nvPr/>
        </p:nvSpPr>
        <p:spPr>
          <a:xfrm>
            <a:off x="7315200" y="2724912"/>
            <a:ext cx="1920240" cy="457200"/>
          </a:xfrm>
          <a:prstGeom prst="roundRect">
            <a:avLst>
              <a:gd name="adj" fmla="val 18000"/>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비공개 초안</a:t>
            </a:r>
          </a:p>
        </p:txBody>
      </p:sp>
      <p:sp>
        <p:nvSpPr>
          <p:cNvPr id="13" name="N:34:12:재열람"/>
          <p:cNvSpPr/>
          <p:nvPr/>
        </p:nvSpPr>
        <p:spPr>
          <a:xfrm>
            <a:off x="9601200" y="2724912"/>
            <a:ext cx="1920240" cy="457200"/>
          </a:xfrm>
          <a:prstGeom prst="roundRect">
            <a:avLst>
              <a:gd name="adj" fmla="val 18000"/>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재열람</a:t>
            </a:r>
          </a:p>
        </p:txBody>
      </p:sp>
      <p:cxnSp>
        <p:nvCxnSpPr>
          <p:cNvPr id="14" name="L:34:13:원문 보존-&gt;최종 확정"/>
          <p:cNvCxnSpPr>
            <a:stCxn id="9" idx="3"/>
            <a:endCxn id="10" idx="1"/>
          </p:cNvCxnSpPr>
          <p:nvPr/>
        </p:nvCxnSpPr>
        <p:spPr>
          <a:xfrm flipV="1">
            <a:off x="2377440" y="2953512"/>
            <a:ext cx="365760" cy="0"/>
          </a:xfrm>
          <a:prstGeom prst="line">
            <a:avLst/>
          </a:prstGeom>
          <a:ln w="19050">
            <a:solidFill>
              <a:srgbClr val="1F2328"/>
            </a:solidFill>
            <a:tailEnd type="triangle" w="med" len="med"/>
          </a:ln>
        </p:spPr>
      </p:cxnSp>
      <p:cxnSp>
        <p:nvCxnSpPr>
          <p:cNvPr id="15" name="L:34:14:최종 확정-&gt;삽화와 보관"/>
          <p:cNvCxnSpPr>
            <a:stCxn id="10" idx="3"/>
            <a:endCxn id="11" idx="1"/>
          </p:cNvCxnSpPr>
          <p:nvPr/>
        </p:nvCxnSpPr>
        <p:spPr>
          <a:xfrm flipV="1">
            <a:off x="4663440" y="2953512"/>
            <a:ext cx="365760" cy="0"/>
          </a:xfrm>
          <a:prstGeom prst="line">
            <a:avLst/>
          </a:prstGeom>
          <a:ln w="19050">
            <a:solidFill>
              <a:srgbClr val="1F2328"/>
            </a:solidFill>
            <a:tailEnd type="triangle" w="med" len="med"/>
          </a:ln>
        </p:spPr>
      </p:cxnSp>
      <p:cxnSp>
        <p:nvCxnSpPr>
          <p:cNvPr id="16" name="L:34:15:삽화와 보관-&gt;비공개 초안"/>
          <p:cNvCxnSpPr>
            <a:stCxn id="11" idx="3"/>
            <a:endCxn id="12" idx="1"/>
          </p:cNvCxnSpPr>
          <p:nvPr/>
        </p:nvCxnSpPr>
        <p:spPr>
          <a:xfrm flipV="1">
            <a:off x="6949440" y="2953512"/>
            <a:ext cx="365760" cy="0"/>
          </a:xfrm>
          <a:prstGeom prst="line">
            <a:avLst/>
          </a:prstGeom>
          <a:ln w="19050">
            <a:solidFill>
              <a:srgbClr val="1F2328"/>
            </a:solidFill>
            <a:tailEnd type="triangle" w="med" len="med"/>
          </a:ln>
        </p:spPr>
      </p:cxnSp>
      <p:cxnSp>
        <p:nvCxnSpPr>
          <p:cNvPr id="17" name="L:34:16:비공개 초안-&gt;재열람"/>
          <p:cNvCxnSpPr>
            <a:stCxn id="12" idx="3"/>
            <a:endCxn id="13" idx="1"/>
          </p:cNvCxnSpPr>
          <p:nvPr/>
        </p:nvCxnSpPr>
        <p:spPr>
          <a:xfrm flipV="1">
            <a:off x="9235440" y="2953512"/>
            <a:ext cx="365760" cy="0"/>
          </a:xfrm>
          <a:prstGeom prst="line">
            <a:avLst/>
          </a:prstGeom>
          <a:ln w="19050">
            <a:solidFill>
              <a:srgbClr val="1F2328"/>
            </a:solidFill>
            <a:tailEnd type="triangle" w="med" len="med"/>
          </a:ln>
        </p:spPr>
      </p:cxnSp>
      <p:sp>
        <p:nvSpPr>
          <p:cNvPr id="18" name="T:34:17:tag-상태: 버전"/>
          <p:cNvSpPr txBox="1"/>
          <p:nvPr/>
        </p:nvSpPr>
        <p:spPr>
          <a:xfrm>
            <a:off x="457200" y="3200400"/>
            <a:ext cx="1920240" cy="365760"/>
          </a:xfrm>
          <a:prstGeom prst="rect">
            <a:avLst/>
          </a:prstGeom>
          <a:noFill/>
        </p:spPr>
        <p:txBody>
          <a:bodyPr wrap="square" anchor="ctr" lIns="54864" rIns="54864" tIns="27432" bIns="27432">
            <a:noAutofit/>
          </a:bodyPr>
          <a:lstStyle/>
          <a:p>
            <a:pPr algn="ctr">
              <a:lnSpc>
                <a:spcPct val="108000"/>
              </a:lnSpc>
            </a:pPr>
            <a:r>
              <a:rPr sz="2000" b="0">
                <a:solidFill>
                  <a:srgbClr val="5B6470"/>
                </a:solidFill>
                <a:latin typeface="Nanum Gothic"/>
                <a:ea typeface="Nanum Gothic"/>
                <a:cs typeface="Nanum Gothic"/>
              </a:rPr>
              <a:t>상태: 버전</a:t>
            </a:r>
          </a:p>
        </p:txBody>
      </p:sp>
      <p:sp>
        <p:nvSpPr>
          <p:cNvPr id="19" name="T:34:18:tag-사람 게이트"/>
          <p:cNvSpPr txBox="1"/>
          <p:nvPr/>
        </p:nvSpPr>
        <p:spPr>
          <a:xfrm>
            <a:off x="2743200" y="3200400"/>
            <a:ext cx="1920240" cy="365760"/>
          </a:xfrm>
          <a:prstGeom prst="rect">
            <a:avLst/>
          </a:prstGeom>
          <a:noFill/>
        </p:spPr>
        <p:txBody>
          <a:bodyPr wrap="square" anchor="ctr" lIns="54864" rIns="54864" tIns="27432" bIns="27432">
            <a:noAutofit/>
          </a:bodyPr>
          <a:lstStyle/>
          <a:p>
            <a:pPr algn="ctr">
              <a:lnSpc>
                <a:spcPct val="108000"/>
              </a:lnSpc>
            </a:pPr>
            <a:r>
              <a:rPr sz="2000" b="1">
                <a:solidFill>
                  <a:srgbClr val="B45309"/>
                </a:solidFill>
                <a:latin typeface="Nanum Gothic"/>
                <a:ea typeface="Nanum Gothic"/>
                <a:cs typeface="Nanum Gothic"/>
              </a:rPr>
              <a:t>사람 게이트</a:t>
            </a:r>
          </a:p>
        </p:txBody>
      </p:sp>
      <p:sp>
        <p:nvSpPr>
          <p:cNvPr id="20" name="T:34:19:tag-도구 실행"/>
          <p:cNvSpPr txBox="1"/>
          <p:nvPr/>
        </p:nvSpPr>
        <p:spPr>
          <a:xfrm>
            <a:off x="5029200" y="3200400"/>
            <a:ext cx="1920240" cy="365760"/>
          </a:xfrm>
          <a:prstGeom prst="rect">
            <a:avLst/>
          </a:prstGeom>
          <a:noFill/>
        </p:spPr>
        <p:txBody>
          <a:bodyPr wrap="square" anchor="ctr" lIns="54864" rIns="54864" tIns="27432" bIns="27432">
            <a:noAutofit/>
          </a:bodyPr>
          <a:lstStyle/>
          <a:p>
            <a:pPr algn="ctr">
              <a:lnSpc>
                <a:spcPct val="108000"/>
              </a:lnSpc>
            </a:pPr>
            <a:r>
              <a:rPr sz="2000" b="0">
                <a:solidFill>
                  <a:srgbClr val="5B6470"/>
                </a:solidFill>
                <a:latin typeface="Nanum Gothic"/>
                <a:ea typeface="Nanum Gothic"/>
                <a:cs typeface="Nanum Gothic"/>
              </a:rPr>
              <a:t>도구 실행</a:t>
            </a:r>
          </a:p>
        </p:txBody>
      </p:sp>
      <p:sp>
        <p:nvSpPr>
          <p:cNvPr id="21" name="T:34:20:tag-자동화"/>
          <p:cNvSpPr txBox="1"/>
          <p:nvPr/>
        </p:nvSpPr>
        <p:spPr>
          <a:xfrm>
            <a:off x="7315200" y="3200400"/>
            <a:ext cx="1920240" cy="365760"/>
          </a:xfrm>
          <a:prstGeom prst="rect">
            <a:avLst/>
          </a:prstGeom>
          <a:noFill/>
        </p:spPr>
        <p:txBody>
          <a:bodyPr wrap="square" anchor="ctr" lIns="54864" rIns="54864" tIns="27432" bIns="27432">
            <a:noAutofit/>
          </a:bodyPr>
          <a:lstStyle/>
          <a:p>
            <a:pPr algn="ctr">
              <a:lnSpc>
                <a:spcPct val="108000"/>
              </a:lnSpc>
            </a:pPr>
            <a:r>
              <a:rPr sz="2000" b="0">
                <a:solidFill>
                  <a:srgbClr val="5B6470"/>
                </a:solidFill>
                <a:latin typeface="Nanum Gothic"/>
                <a:ea typeface="Nanum Gothic"/>
                <a:cs typeface="Nanum Gothic"/>
              </a:rPr>
              <a:t>자동화</a:t>
            </a:r>
          </a:p>
        </p:txBody>
      </p:sp>
      <p:sp>
        <p:nvSpPr>
          <p:cNvPr id="22" name="T:34:21:tag-검증"/>
          <p:cNvSpPr txBox="1"/>
          <p:nvPr/>
        </p:nvSpPr>
        <p:spPr>
          <a:xfrm>
            <a:off x="9601200" y="3200400"/>
            <a:ext cx="1920240" cy="365760"/>
          </a:xfrm>
          <a:prstGeom prst="rect">
            <a:avLst/>
          </a:prstGeom>
          <a:noFill/>
        </p:spPr>
        <p:txBody>
          <a:bodyPr wrap="square" anchor="ctr" lIns="54864" rIns="54864" tIns="27432" bIns="27432">
            <a:noAutofit/>
          </a:bodyPr>
          <a:lstStyle/>
          <a:p>
            <a:pPr algn="ctr">
              <a:lnSpc>
                <a:spcPct val="108000"/>
              </a:lnSpc>
            </a:pPr>
            <a:r>
              <a:rPr sz="2000" b="0">
                <a:solidFill>
                  <a:srgbClr val="5B6470"/>
                </a:solidFill>
                <a:latin typeface="Nanum Gothic"/>
                <a:ea typeface="Nanum Gothic"/>
                <a:cs typeface="Nanum Gothic"/>
              </a:rPr>
              <a:t>검증</a:t>
            </a:r>
          </a:p>
        </p:txBody>
      </p:sp>
      <p:sp>
        <p:nvSpPr>
          <p:cNvPr id="23" name="C:34:22:tile-OpenClaw"/>
          <p:cNvSpPr/>
          <p:nvPr/>
        </p:nvSpPr>
        <p:spPr>
          <a:xfrm>
            <a:off x="457200" y="3657600"/>
            <a:ext cx="2103120" cy="2304287"/>
          </a:xfrm>
          <a:prstGeom prst="roundRect">
            <a:avLst>
              <a:gd name="adj" fmla="val 5217"/>
            </a:avLst>
          </a:prstGeom>
          <a:solidFill>
            <a:srgbClr val="FFFFFF"/>
          </a:solidFill>
          <a:ln w="12700">
            <a:solidFill>
              <a:srgbClr val="C5CBD3"/>
            </a:solidFill>
          </a:ln>
          <a:effectLst/>
        </p:spPr>
        <p:txBody>
          <a:bodyPr rtlCol="0" anchor="ctr"/>
          <a:lstStyle/>
          <a:p>
            <a:pPr algn="ctr"/>
          </a:p>
        </p:txBody>
      </p:sp>
      <p:sp>
        <p:nvSpPr>
          <p:cNvPr id="24" name="T:34:23:tile-head-OpenClaw"/>
          <p:cNvSpPr txBox="1"/>
          <p:nvPr/>
        </p:nvSpPr>
        <p:spPr>
          <a:xfrm>
            <a:off x="566928" y="3694176"/>
            <a:ext cx="1883663" cy="365760"/>
          </a:xfrm>
          <a:prstGeom prst="rect">
            <a:avLst/>
          </a:prstGeom>
          <a:noFill/>
        </p:spPr>
        <p:txBody>
          <a:bodyPr wrap="square" anchor="ctr" lIns="54864" rIns="54864" tIns="27432" bIns="27432">
            <a:noAutofit/>
          </a:bodyPr>
          <a:lstStyle/>
          <a:p>
            <a:pPr algn="ctr">
              <a:lnSpc>
                <a:spcPct val="108000"/>
              </a:lnSpc>
            </a:pPr>
            <a:r>
              <a:rPr sz="2000" b="1">
                <a:solidFill>
                  <a:srgbClr val="1F2328"/>
                </a:solidFill>
                <a:latin typeface="Nanum Gothic"/>
                <a:ea typeface="Nanum Gothic"/>
                <a:cs typeface="Nanum Gothic"/>
              </a:rPr>
              <a:t>OpenClaw</a:t>
            </a:r>
          </a:p>
        </p:txBody>
      </p:sp>
      <p:sp>
        <p:nvSpPr>
          <p:cNvPr id="25" name="T:34:24:tile-purpose-OpenClaw"/>
          <p:cNvSpPr txBox="1"/>
          <p:nvPr/>
        </p:nvSpPr>
        <p:spPr>
          <a:xfrm>
            <a:off x="566928" y="5559551"/>
            <a:ext cx="1883663" cy="365760"/>
          </a:xfrm>
          <a:prstGeom prst="rect">
            <a:avLst/>
          </a:prstGeom>
          <a:noFill/>
        </p:spPr>
        <p:txBody>
          <a:bodyPr wrap="square" anchor="ctr" lIns="54864" rIns="54864" tIns="27432" bIns="27432">
            <a:noAutofit/>
          </a:bodyPr>
          <a:lstStyle/>
          <a:p>
            <a:pPr algn="ctr">
              <a:lnSpc>
                <a:spcPct val="108000"/>
              </a:lnSpc>
            </a:pPr>
            <a:r>
              <a:rPr sz="2000" b="1">
                <a:solidFill>
                  <a:srgbClr val="1F2328"/>
                </a:solidFill>
                <a:latin typeface="Nanum Gothic"/>
                <a:ea typeface="Nanum Gothic"/>
                <a:cs typeface="Nanum Gothic"/>
              </a:rPr>
              <a:t>조율과 위임</a:t>
            </a:r>
          </a:p>
        </p:txBody>
      </p:sp>
      <p:sp>
        <p:nvSpPr>
          <p:cNvPr id="26" name="N:34:25:코디네이터"/>
          <p:cNvSpPr/>
          <p:nvPr/>
        </p:nvSpPr>
        <p:spPr>
          <a:xfrm>
            <a:off x="594359" y="4096512"/>
            <a:ext cx="1828800" cy="402336"/>
          </a:xfrm>
          <a:prstGeom prst="roundRect">
            <a:avLst>
              <a:gd name="adj" fmla="val 20454"/>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코디네이터</a:t>
            </a:r>
          </a:p>
        </p:txBody>
      </p:sp>
      <p:sp>
        <p:nvSpPr>
          <p:cNvPr id="27" name="N:34:26:워커"/>
          <p:cNvSpPr/>
          <p:nvPr/>
        </p:nvSpPr>
        <p:spPr>
          <a:xfrm>
            <a:off x="594359" y="4608576"/>
            <a:ext cx="1828800" cy="402336"/>
          </a:xfrm>
          <a:prstGeom prst="roundRect">
            <a:avLst>
              <a:gd name="adj" fmla="val 20454"/>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워커</a:t>
            </a:r>
          </a:p>
        </p:txBody>
      </p:sp>
      <p:sp>
        <p:nvSpPr>
          <p:cNvPr id="28" name="N:34:27:부모 검증"/>
          <p:cNvSpPr/>
          <p:nvPr/>
        </p:nvSpPr>
        <p:spPr>
          <a:xfrm>
            <a:off x="594359" y="5120640"/>
            <a:ext cx="1828800" cy="402336"/>
          </a:xfrm>
          <a:prstGeom prst="roundRect">
            <a:avLst>
              <a:gd name="adj" fmla="val 20454"/>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부모 검증</a:t>
            </a:r>
          </a:p>
        </p:txBody>
      </p:sp>
      <p:cxnSp>
        <p:nvCxnSpPr>
          <p:cNvPr id="29" name="L:34:28:코디네이터-&gt;워커"/>
          <p:cNvCxnSpPr>
            <a:stCxn id="26" idx="2"/>
            <a:endCxn id="27" idx="0"/>
          </p:cNvCxnSpPr>
          <p:nvPr/>
        </p:nvCxnSpPr>
        <p:spPr>
          <a:xfrm flipH="1">
            <a:off x="1508759" y="4498848"/>
            <a:ext cx="0" cy="109728"/>
          </a:xfrm>
          <a:prstGeom prst="line">
            <a:avLst/>
          </a:prstGeom>
          <a:ln w="19050">
            <a:solidFill>
              <a:srgbClr val="1F2328"/>
            </a:solidFill>
            <a:tailEnd type="triangle" w="med" len="med"/>
          </a:ln>
        </p:spPr>
      </p:cxnSp>
      <p:cxnSp>
        <p:nvCxnSpPr>
          <p:cNvPr id="30" name="L:34:29:워커-&gt;부모 검증"/>
          <p:cNvCxnSpPr>
            <a:stCxn id="27" idx="2"/>
            <a:endCxn id="28" idx="0"/>
          </p:cNvCxnSpPr>
          <p:nvPr/>
        </p:nvCxnSpPr>
        <p:spPr>
          <a:xfrm flipH="1">
            <a:off x="1508759" y="5010912"/>
            <a:ext cx="0" cy="109728"/>
          </a:xfrm>
          <a:prstGeom prst="line">
            <a:avLst/>
          </a:prstGeom>
          <a:ln w="19050">
            <a:solidFill>
              <a:srgbClr val="1F2328"/>
            </a:solidFill>
            <a:tailEnd type="triangle" w="med" len="med"/>
          </a:ln>
        </p:spPr>
      </p:cxnSp>
      <p:sp>
        <p:nvSpPr>
          <p:cNvPr id="31" name="C:34:30:tile-OMH"/>
          <p:cNvSpPr/>
          <p:nvPr/>
        </p:nvSpPr>
        <p:spPr>
          <a:xfrm>
            <a:off x="2743200" y="3657600"/>
            <a:ext cx="2103120" cy="2304287"/>
          </a:xfrm>
          <a:prstGeom prst="roundRect">
            <a:avLst>
              <a:gd name="adj" fmla="val 5217"/>
            </a:avLst>
          </a:prstGeom>
          <a:solidFill>
            <a:srgbClr val="FFFFFF"/>
          </a:solidFill>
          <a:ln w="12700">
            <a:solidFill>
              <a:srgbClr val="C5CBD3"/>
            </a:solidFill>
          </a:ln>
          <a:effectLst/>
        </p:spPr>
        <p:txBody>
          <a:bodyPr rtlCol="0" anchor="ctr"/>
          <a:lstStyle/>
          <a:p>
            <a:pPr algn="ctr"/>
          </a:p>
        </p:txBody>
      </p:sp>
      <p:sp>
        <p:nvSpPr>
          <p:cNvPr id="32" name="T:34:31:tile-head-OMH"/>
          <p:cNvSpPr txBox="1"/>
          <p:nvPr/>
        </p:nvSpPr>
        <p:spPr>
          <a:xfrm>
            <a:off x="2852928" y="3694176"/>
            <a:ext cx="1883663" cy="365760"/>
          </a:xfrm>
          <a:prstGeom prst="rect">
            <a:avLst/>
          </a:prstGeom>
          <a:noFill/>
        </p:spPr>
        <p:txBody>
          <a:bodyPr wrap="square" anchor="ctr" lIns="54864" rIns="54864" tIns="27432" bIns="27432">
            <a:noAutofit/>
          </a:bodyPr>
          <a:lstStyle/>
          <a:p>
            <a:pPr algn="ctr">
              <a:lnSpc>
                <a:spcPct val="108000"/>
              </a:lnSpc>
            </a:pPr>
            <a:r>
              <a:rPr sz="2000" b="1">
                <a:solidFill>
                  <a:srgbClr val="1F2328"/>
                </a:solidFill>
                <a:latin typeface="Nanum Gothic"/>
                <a:ea typeface="Nanum Gothic"/>
                <a:cs typeface="Nanum Gothic"/>
              </a:rPr>
              <a:t>OMH</a:t>
            </a:r>
          </a:p>
        </p:txBody>
      </p:sp>
      <p:sp>
        <p:nvSpPr>
          <p:cNvPr id="33" name="T:34:32:tile-purpose-OMH"/>
          <p:cNvSpPr txBox="1"/>
          <p:nvPr/>
        </p:nvSpPr>
        <p:spPr>
          <a:xfrm>
            <a:off x="2852928" y="5559551"/>
            <a:ext cx="1883663" cy="365760"/>
          </a:xfrm>
          <a:prstGeom prst="rect">
            <a:avLst/>
          </a:prstGeom>
          <a:noFill/>
        </p:spPr>
        <p:txBody>
          <a:bodyPr wrap="square" anchor="ctr" lIns="54864" rIns="54864" tIns="27432" bIns="27432">
            <a:noAutofit/>
          </a:bodyPr>
          <a:lstStyle/>
          <a:p>
            <a:pPr algn="ctr">
              <a:lnSpc>
                <a:spcPct val="108000"/>
              </a:lnSpc>
            </a:pPr>
            <a:r>
              <a:rPr sz="2000" b="1">
                <a:solidFill>
                  <a:srgbClr val="1F2328"/>
                </a:solidFill>
                <a:latin typeface="Nanum Gothic"/>
                <a:ea typeface="Nanum Gothic"/>
                <a:cs typeface="Nanum Gothic"/>
              </a:rPr>
              <a:t>유지 위에 보강</a:t>
            </a:r>
          </a:p>
        </p:txBody>
      </p:sp>
      <p:sp>
        <p:nvSpPr>
          <p:cNvPr id="34" name="N:34:33:도구와 절차"/>
          <p:cNvSpPr/>
          <p:nvPr/>
        </p:nvSpPr>
        <p:spPr>
          <a:xfrm>
            <a:off x="2880360" y="4096512"/>
            <a:ext cx="1828800" cy="402336"/>
          </a:xfrm>
          <a:prstGeom prst="roundRect">
            <a:avLst>
              <a:gd name="adj" fmla="val 20454"/>
            </a:avLst>
          </a:prstGeom>
          <a:solidFill>
            <a:srgbClr val="E7EEF8"/>
          </a:solidFill>
          <a:ln w="28575">
            <a:solidFill>
              <a:srgbClr val="2B5FA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도구와 절차</a:t>
            </a:r>
          </a:p>
        </p:txBody>
      </p:sp>
      <p:sp>
        <p:nvSpPr>
          <p:cNvPr id="35" name="N:34:34:역할 (유지)"/>
          <p:cNvSpPr/>
          <p:nvPr/>
        </p:nvSpPr>
        <p:spPr>
          <a:xfrm>
            <a:off x="2880360" y="4608576"/>
            <a:ext cx="1828800" cy="402336"/>
          </a:xfrm>
          <a:prstGeom prst="roundRect">
            <a:avLst>
              <a:gd name="adj" fmla="val 20454"/>
            </a:avLst>
          </a:prstGeom>
          <a:solidFill>
            <a:srgbClr val="F7F7F4"/>
          </a:solidFill>
          <a:ln w="28575">
            <a:solidFill>
              <a:srgbClr val="5B6470"/>
            </a:solidFill>
            <a:prstDash val="dash"/>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역할 (유지)</a:t>
            </a:r>
          </a:p>
        </p:txBody>
      </p:sp>
      <p:sp>
        <p:nvSpPr>
          <p:cNvPr id="36" name="N:34:35:모델 (유지)"/>
          <p:cNvSpPr/>
          <p:nvPr/>
        </p:nvSpPr>
        <p:spPr>
          <a:xfrm>
            <a:off x="2880360" y="5120640"/>
            <a:ext cx="1828800" cy="402336"/>
          </a:xfrm>
          <a:prstGeom prst="roundRect">
            <a:avLst>
              <a:gd name="adj" fmla="val 20454"/>
            </a:avLst>
          </a:prstGeom>
          <a:solidFill>
            <a:srgbClr val="F7F7F4"/>
          </a:solidFill>
          <a:ln w="28575">
            <a:solidFill>
              <a:srgbClr val="5B6470"/>
            </a:solidFill>
            <a:prstDash val="dash"/>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모델 (유지)</a:t>
            </a:r>
          </a:p>
        </p:txBody>
      </p:sp>
      <p:sp>
        <p:nvSpPr>
          <p:cNvPr id="37" name="C:34:36:tile-Grokbot 설명"/>
          <p:cNvSpPr/>
          <p:nvPr/>
        </p:nvSpPr>
        <p:spPr>
          <a:xfrm>
            <a:off x="5029200" y="3657600"/>
            <a:ext cx="2103120" cy="2304287"/>
          </a:xfrm>
          <a:prstGeom prst="roundRect">
            <a:avLst>
              <a:gd name="adj" fmla="val 5217"/>
            </a:avLst>
          </a:prstGeom>
          <a:solidFill>
            <a:srgbClr val="FFFFFF"/>
          </a:solidFill>
          <a:ln w="12700">
            <a:solidFill>
              <a:srgbClr val="C5CBD3"/>
            </a:solidFill>
          </a:ln>
          <a:effectLst/>
        </p:spPr>
        <p:txBody>
          <a:bodyPr rtlCol="0" anchor="ctr"/>
          <a:lstStyle/>
          <a:p>
            <a:pPr algn="ctr"/>
          </a:p>
        </p:txBody>
      </p:sp>
      <p:sp>
        <p:nvSpPr>
          <p:cNvPr id="38" name="T:34:37:tile-head-Grokbot 설명"/>
          <p:cNvSpPr txBox="1"/>
          <p:nvPr/>
        </p:nvSpPr>
        <p:spPr>
          <a:xfrm>
            <a:off x="5138928" y="3694176"/>
            <a:ext cx="1883663" cy="365760"/>
          </a:xfrm>
          <a:prstGeom prst="rect">
            <a:avLst/>
          </a:prstGeom>
          <a:noFill/>
        </p:spPr>
        <p:txBody>
          <a:bodyPr wrap="square" anchor="ctr" lIns="54864" rIns="54864" tIns="27432" bIns="27432">
            <a:noAutofit/>
          </a:bodyPr>
          <a:lstStyle/>
          <a:p>
            <a:pPr algn="ctr">
              <a:lnSpc>
                <a:spcPct val="108000"/>
              </a:lnSpc>
            </a:pPr>
            <a:r>
              <a:rPr sz="2000" b="1">
                <a:solidFill>
                  <a:srgbClr val="1F2328"/>
                </a:solidFill>
                <a:latin typeface="Nanum Gothic"/>
                <a:ea typeface="Nanum Gothic"/>
                <a:cs typeface="Nanum Gothic"/>
              </a:rPr>
              <a:t>Grokbot 설명</a:t>
            </a:r>
          </a:p>
        </p:txBody>
      </p:sp>
      <p:sp>
        <p:nvSpPr>
          <p:cNvPr id="39" name="T:34:38:tile-purpose-Grokbot 설명"/>
          <p:cNvSpPr txBox="1"/>
          <p:nvPr/>
        </p:nvSpPr>
        <p:spPr>
          <a:xfrm>
            <a:off x="5138928" y="5559551"/>
            <a:ext cx="1883663" cy="365760"/>
          </a:xfrm>
          <a:prstGeom prst="rect">
            <a:avLst/>
          </a:prstGeom>
          <a:noFill/>
        </p:spPr>
        <p:txBody>
          <a:bodyPr wrap="square" anchor="ctr" lIns="54864" rIns="54864" tIns="27432" bIns="27432">
            <a:noAutofit/>
          </a:bodyPr>
          <a:lstStyle/>
          <a:p>
            <a:pPr algn="ctr">
              <a:lnSpc>
                <a:spcPct val="108000"/>
              </a:lnSpc>
            </a:pPr>
            <a:r>
              <a:rPr sz="2000" b="1">
                <a:solidFill>
                  <a:srgbClr val="B45309"/>
                </a:solidFill>
                <a:latin typeface="Nanum Gothic"/>
                <a:ea typeface="Nanum Gothic"/>
                <a:cs typeface="Nanum Gothic"/>
              </a:rPr>
              <a:t>출처 검증 대기</a:t>
            </a:r>
          </a:p>
        </p:txBody>
      </p:sp>
      <p:sp>
        <p:nvSpPr>
          <p:cNvPr id="40" name="N:34:39:봇"/>
          <p:cNvSpPr/>
          <p:nvPr/>
        </p:nvSpPr>
        <p:spPr>
          <a:xfrm>
            <a:off x="5394960" y="4096512"/>
            <a:ext cx="603504" cy="402336"/>
          </a:xfrm>
          <a:prstGeom prst="roundRect">
            <a:avLst>
              <a:gd name="adj" fmla="val 20454"/>
            </a:avLst>
          </a:prstGeom>
          <a:noFill/>
          <a:ln w="15875">
            <a:solidFill>
              <a:srgbClr val="5B6470"/>
            </a:solidFill>
            <a:prstDash val="dash"/>
          </a:ln>
          <a:effectLst/>
        </p:spPr>
        <p:txBody>
          <a:bodyPr rtlCol="0" anchor="ctr" wrap="square" lIns="54864" rIns="54864" tIns="27432" bIns="27432">
            <a:noAutofit/>
          </a:bodyPr>
          <a:lstStyle/>
          <a:p>
            <a:pPr algn="ctr">
              <a:lnSpc>
                <a:spcPct val="108000"/>
              </a:lnSpc>
            </a:pPr>
            <a:r>
              <a:rPr sz="2000" b="0">
                <a:solidFill>
                  <a:srgbClr val="5B6470"/>
                </a:solidFill>
                <a:latin typeface="Nanum Gothic"/>
                <a:ea typeface="Nanum Gothic"/>
                <a:cs typeface="Nanum Gothic"/>
              </a:rPr>
              <a:t>봇</a:t>
            </a:r>
          </a:p>
        </p:txBody>
      </p:sp>
      <p:sp>
        <p:nvSpPr>
          <p:cNvPr id="41" name="N:34:40:봇"/>
          <p:cNvSpPr/>
          <p:nvPr/>
        </p:nvSpPr>
        <p:spPr>
          <a:xfrm>
            <a:off x="6163055" y="4096512"/>
            <a:ext cx="603504" cy="402336"/>
          </a:xfrm>
          <a:prstGeom prst="roundRect">
            <a:avLst>
              <a:gd name="adj" fmla="val 20454"/>
            </a:avLst>
          </a:prstGeom>
          <a:noFill/>
          <a:ln w="15875">
            <a:solidFill>
              <a:srgbClr val="5B6470"/>
            </a:solidFill>
            <a:prstDash val="dash"/>
          </a:ln>
          <a:effectLst/>
        </p:spPr>
        <p:txBody>
          <a:bodyPr rtlCol="0" anchor="ctr" wrap="square" lIns="54864" rIns="54864" tIns="27432" bIns="27432">
            <a:noAutofit/>
          </a:bodyPr>
          <a:lstStyle/>
          <a:p>
            <a:pPr algn="ctr">
              <a:lnSpc>
                <a:spcPct val="108000"/>
              </a:lnSpc>
            </a:pPr>
            <a:r>
              <a:rPr sz="2000" b="0">
                <a:solidFill>
                  <a:srgbClr val="5B6470"/>
                </a:solidFill>
                <a:latin typeface="Nanum Gothic"/>
                <a:ea typeface="Nanum Gothic"/>
                <a:cs typeface="Nanum Gothic"/>
              </a:rPr>
              <a:t>봇</a:t>
            </a:r>
          </a:p>
        </p:txBody>
      </p:sp>
      <p:sp>
        <p:nvSpPr>
          <p:cNvPr id="42" name="N:34:41:봇"/>
          <p:cNvSpPr/>
          <p:nvPr/>
        </p:nvSpPr>
        <p:spPr>
          <a:xfrm>
            <a:off x="5394960" y="5120640"/>
            <a:ext cx="603504" cy="402336"/>
          </a:xfrm>
          <a:prstGeom prst="roundRect">
            <a:avLst>
              <a:gd name="adj" fmla="val 20454"/>
            </a:avLst>
          </a:prstGeom>
          <a:noFill/>
          <a:ln w="15875">
            <a:solidFill>
              <a:srgbClr val="5B6470"/>
            </a:solidFill>
            <a:prstDash val="dash"/>
          </a:ln>
          <a:effectLst/>
        </p:spPr>
        <p:txBody>
          <a:bodyPr rtlCol="0" anchor="ctr" wrap="square" lIns="54864" rIns="54864" tIns="27432" bIns="27432">
            <a:noAutofit/>
          </a:bodyPr>
          <a:lstStyle/>
          <a:p>
            <a:pPr algn="ctr">
              <a:lnSpc>
                <a:spcPct val="108000"/>
              </a:lnSpc>
            </a:pPr>
            <a:r>
              <a:rPr sz="2000" b="0">
                <a:solidFill>
                  <a:srgbClr val="5B6470"/>
                </a:solidFill>
                <a:latin typeface="Nanum Gothic"/>
                <a:ea typeface="Nanum Gothic"/>
                <a:cs typeface="Nanum Gothic"/>
              </a:rPr>
              <a:t>봇</a:t>
            </a:r>
          </a:p>
        </p:txBody>
      </p:sp>
      <p:sp>
        <p:nvSpPr>
          <p:cNvPr id="43" name="N:34:42:봇"/>
          <p:cNvSpPr/>
          <p:nvPr/>
        </p:nvSpPr>
        <p:spPr>
          <a:xfrm>
            <a:off x="6163055" y="5120640"/>
            <a:ext cx="603504" cy="402336"/>
          </a:xfrm>
          <a:prstGeom prst="roundRect">
            <a:avLst>
              <a:gd name="adj" fmla="val 20454"/>
            </a:avLst>
          </a:prstGeom>
          <a:noFill/>
          <a:ln w="15875">
            <a:solidFill>
              <a:srgbClr val="5B6470"/>
            </a:solidFill>
            <a:prstDash val="dash"/>
          </a:ln>
          <a:effectLst/>
        </p:spPr>
        <p:txBody>
          <a:bodyPr rtlCol="0" anchor="ctr" wrap="square" lIns="54864" rIns="54864" tIns="27432" bIns="27432">
            <a:noAutofit/>
          </a:bodyPr>
          <a:lstStyle/>
          <a:p>
            <a:pPr algn="ctr">
              <a:lnSpc>
                <a:spcPct val="108000"/>
              </a:lnSpc>
            </a:pPr>
            <a:r>
              <a:rPr sz="2000" b="0">
                <a:solidFill>
                  <a:srgbClr val="5B6470"/>
                </a:solidFill>
                <a:latin typeface="Nanum Gothic"/>
                <a:ea typeface="Nanum Gothic"/>
                <a:cs typeface="Nanum Gothic"/>
              </a:rPr>
              <a:t>봇</a:t>
            </a:r>
          </a:p>
        </p:txBody>
      </p:sp>
      <p:sp>
        <p:nvSpPr>
          <p:cNvPr id="44" name="N:34:43:공유 환경"/>
          <p:cNvSpPr/>
          <p:nvPr/>
        </p:nvSpPr>
        <p:spPr>
          <a:xfrm>
            <a:off x="5349240" y="4608576"/>
            <a:ext cx="1463039" cy="402336"/>
          </a:xfrm>
          <a:prstGeom prst="roundRect">
            <a:avLst>
              <a:gd name="adj" fmla="val 20454"/>
            </a:avLst>
          </a:prstGeom>
          <a:noFill/>
          <a:ln w="15875">
            <a:solidFill>
              <a:srgbClr val="5B6470"/>
            </a:solidFill>
            <a:prstDash val="dash"/>
          </a:ln>
          <a:effectLst/>
        </p:spPr>
        <p:txBody>
          <a:bodyPr rtlCol="0" anchor="ctr" wrap="square" lIns="54864" rIns="54864" tIns="27432" bIns="27432">
            <a:noAutofit/>
          </a:bodyPr>
          <a:lstStyle/>
          <a:p>
            <a:pPr algn="ctr">
              <a:lnSpc>
                <a:spcPct val="108000"/>
              </a:lnSpc>
            </a:pPr>
            <a:r>
              <a:rPr sz="2000" b="0">
                <a:solidFill>
                  <a:srgbClr val="5B6470"/>
                </a:solidFill>
                <a:latin typeface="Nanum Gothic"/>
                <a:ea typeface="Nanum Gothic"/>
                <a:cs typeface="Nanum Gothic"/>
              </a:rPr>
              <a:t>공유 환경</a:t>
            </a:r>
          </a:p>
        </p:txBody>
      </p:sp>
      <p:sp>
        <p:nvSpPr>
          <p:cNvPr id="45" name="C:34:44:tile-AI교양"/>
          <p:cNvSpPr/>
          <p:nvPr/>
        </p:nvSpPr>
        <p:spPr>
          <a:xfrm>
            <a:off x="7315200" y="3657600"/>
            <a:ext cx="2103120" cy="2304287"/>
          </a:xfrm>
          <a:prstGeom prst="roundRect">
            <a:avLst>
              <a:gd name="adj" fmla="val 5217"/>
            </a:avLst>
          </a:prstGeom>
          <a:solidFill>
            <a:srgbClr val="FFFFFF"/>
          </a:solidFill>
          <a:ln w="12700">
            <a:solidFill>
              <a:srgbClr val="C5CBD3"/>
            </a:solidFill>
          </a:ln>
          <a:effectLst/>
        </p:spPr>
        <p:txBody>
          <a:bodyPr rtlCol="0" anchor="ctr"/>
          <a:lstStyle/>
          <a:p>
            <a:pPr algn="ctr"/>
          </a:p>
        </p:txBody>
      </p:sp>
      <p:sp>
        <p:nvSpPr>
          <p:cNvPr id="46" name="T:34:45:tile-head-AI교양"/>
          <p:cNvSpPr txBox="1"/>
          <p:nvPr/>
        </p:nvSpPr>
        <p:spPr>
          <a:xfrm>
            <a:off x="7424927" y="3694176"/>
            <a:ext cx="1883663" cy="365760"/>
          </a:xfrm>
          <a:prstGeom prst="rect">
            <a:avLst/>
          </a:prstGeom>
          <a:noFill/>
        </p:spPr>
        <p:txBody>
          <a:bodyPr wrap="square" anchor="ctr" lIns="54864" rIns="54864" tIns="27432" bIns="27432">
            <a:noAutofit/>
          </a:bodyPr>
          <a:lstStyle/>
          <a:p>
            <a:pPr algn="ctr">
              <a:lnSpc>
                <a:spcPct val="108000"/>
              </a:lnSpc>
            </a:pPr>
            <a:r>
              <a:rPr sz="2000" b="1">
                <a:solidFill>
                  <a:srgbClr val="1F2328"/>
                </a:solidFill>
                <a:latin typeface="Nanum Gothic"/>
                <a:ea typeface="Nanum Gothic"/>
                <a:cs typeface="Nanum Gothic"/>
              </a:rPr>
              <a:t>AI교양</a:t>
            </a:r>
          </a:p>
        </p:txBody>
      </p:sp>
      <p:sp>
        <p:nvSpPr>
          <p:cNvPr id="47" name="T:34:46:tile-purpose-AI교양"/>
          <p:cNvSpPr txBox="1"/>
          <p:nvPr/>
        </p:nvSpPr>
        <p:spPr>
          <a:xfrm>
            <a:off x="7424927" y="5559551"/>
            <a:ext cx="1883663" cy="365760"/>
          </a:xfrm>
          <a:prstGeom prst="rect">
            <a:avLst/>
          </a:prstGeom>
          <a:noFill/>
        </p:spPr>
        <p:txBody>
          <a:bodyPr wrap="square" anchor="ctr" lIns="54864" rIns="54864" tIns="27432" bIns="27432">
            <a:noAutofit/>
          </a:bodyPr>
          <a:lstStyle/>
          <a:p>
            <a:pPr algn="ctr">
              <a:lnSpc>
                <a:spcPct val="108000"/>
              </a:lnSpc>
            </a:pPr>
            <a:r>
              <a:rPr sz="2000" b="1">
                <a:solidFill>
                  <a:srgbClr val="1F2328"/>
                </a:solidFill>
                <a:latin typeface="Nanum Gothic"/>
                <a:ea typeface="Nanum Gothic"/>
                <a:cs typeface="Nanum Gothic"/>
              </a:rPr>
              <a:t>승인과 재확인</a:t>
            </a:r>
          </a:p>
        </p:txBody>
      </p:sp>
      <p:sp>
        <p:nvSpPr>
          <p:cNvPr id="48" name="N:34:47:원문 보존"/>
          <p:cNvSpPr/>
          <p:nvPr/>
        </p:nvSpPr>
        <p:spPr>
          <a:xfrm>
            <a:off x="7452360" y="4096512"/>
            <a:ext cx="1828800" cy="402336"/>
          </a:xfrm>
          <a:prstGeom prst="roundRect">
            <a:avLst>
              <a:gd name="adj" fmla="val 20454"/>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원문 보존</a:t>
            </a:r>
          </a:p>
        </p:txBody>
      </p:sp>
      <p:sp>
        <p:nvSpPr>
          <p:cNvPr id="49" name="N:34:48:최종 확정"/>
          <p:cNvSpPr/>
          <p:nvPr/>
        </p:nvSpPr>
        <p:spPr>
          <a:xfrm>
            <a:off x="7452360" y="4608576"/>
            <a:ext cx="1828800" cy="402336"/>
          </a:xfrm>
          <a:prstGeom prst="roundRect">
            <a:avLst>
              <a:gd name="adj" fmla="val 20454"/>
            </a:avLst>
          </a:prstGeom>
          <a:solidFill>
            <a:srgbClr val="FFFFFF"/>
          </a:solidFill>
          <a:ln w="38100">
            <a:solidFill>
              <a:srgbClr val="B45309"/>
            </a:solidFill>
          </a:ln>
          <a:effectLst/>
        </p:spPr>
        <p:txBody>
          <a:bodyPr rtlCol="0" anchor="ctr" wrap="square" lIns="54864" rIns="54864" tIns="27432" bIns="27432">
            <a:noAutofit/>
          </a:bodyPr>
          <a:lstStyle/>
          <a:p>
            <a:pPr algn="ctr">
              <a:lnSpc>
                <a:spcPct val="108000"/>
              </a:lnSpc>
            </a:pPr>
            <a:r>
              <a:rPr sz="2000" b="1">
                <a:solidFill>
                  <a:srgbClr val="1F2328"/>
                </a:solidFill>
                <a:latin typeface="Nanum Gothic"/>
                <a:ea typeface="Nanum Gothic"/>
                <a:cs typeface="Nanum Gothic"/>
              </a:rPr>
              <a:t>최종 확정</a:t>
            </a:r>
          </a:p>
        </p:txBody>
      </p:sp>
      <p:sp>
        <p:nvSpPr>
          <p:cNvPr id="50" name="N:34:49:재열람"/>
          <p:cNvSpPr/>
          <p:nvPr/>
        </p:nvSpPr>
        <p:spPr>
          <a:xfrm>
            <a:off x="7452360" y="5120640"/>
            <a:ext cx="1828800" cy="402336"/>
          </a:xfrm>
          <a:prstGeom prst="roundRect">
            <a:avLst>
              <a:gd name="adj" fmla="val 20454"/>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재열람</a:t>
            </a:r>
          </a:p>
        </p:txBody>
      </p:sp>
      <p:cxnSp>
        <p:nvCxnSpPr>
          <p:cNvPr id="51" name="L:34:50:원문 보존-&gt;최종 확정"/>
          <p:cNvCxnSpPr>
            <a:stCxn id="48" idx="2"/>
            <a:endCxn id="49" idx="0"/>
          </p:cNvCxnSpPr>
          <p:nvPr/>
        </p:nvCxnSpPr>
        <p:spPr>
          <a:xfrm flipH="1">
            <a:off x="8366760" y="4498848"/>
            <a:ext cx="0" cy="109728"/>
          </a:xfrm>
          <a:prstGeom prst="line">
            <a:avLst/>
          </a:prstGeom>
          <a:ln w="19050">
            <a:solidFill>
              <a:srgbClr val="1F2328"/>
            </a:solidFill>
            <a:tailEnd type="triangle" w="med" len="med"/>
          </a:ln>
        </p:spPr>
      </p:cxnSp>
      <p:cxnSp>
        <p:nvCxnSpPr>
          <p:cNvPr id="52" name="L:34:51:최종 확정-&gt;재열람"/>
          <p:cNvCxnSpPr>
            <a:stCxn id="49" idx="2"/>
            <a:endCxn id="50" idx="0"/>
          </p:cNvCxnSpPr>
          <p:nvPr/>
        </p:nvCxnSpPr>
        <p:spPr>
          <a:xfrm flipH="1">
            <a:off x="8366760" y="5010912"/>
            <a:ext cx="0" cy="109728"/>
          </a:xfrm>
          <a:prstGeom prst="line">
            <a:avLst/>
          </a:prstGeom>
          <a:ln w="19050">
            <a:solidFill>
              <a:srgbClr val="1F2328"/>
            </a:solidFill>
            <a:tailEnd type="triangle" w="med" len="med"/>
          </a:ln>
        </p:spPr>
      </p:cxnSp>
      <p:sp>
        <p:nvSpPr>
          <p:cNvPr id="53" name="C:34:52:tile-CEO Agent"/>
          <p:cNvSpPr/>
          <p:nvPr/>
        </p:nvSpPr>
        <p:spPr>
          <a:xfrm>
            <a:off x="9601200" y="3657600"/>
            <a:ext cx="2103120" cy="2304287"/>
          </a:xfrm>
          <a:prstGeom prst="roundRect">
            <a:avLst>
              <a:gd name="adj" fmla="val 5217"/>
            </a:avLst>
          </a:prstGeom>
          <a:solidFill>
            <a:srgbClr val="FFFFFF"/>
          </a:solidFill>
          <a:ln w="12700">
            <a:solidFill>
              <a:srgbClr val="C5CBD3"/>
            </a:solidFill>
          </a:ln>
          <a:effectLst/>
        </p:spPr>
        <p:txBody>
          <a:bodyPr rtlCol="0" anchor="ctr"/>
          <a:lstStyle/>
          <a:p>
            <a:pPr algn="ctr"/>
          </a:p>
        </p:txBody>
      </p:sp>
      <p:sp>
        <p:nvSpPr>
          <p:cNvPr id="54" name="T:34:53:tile-head-CEO Agent"/>
          <p:cNvSpPr txBox="1"/>
          <p:nvPr/>
        </p:nvSpPr>
        <p:spPr>
          <a:xfrm>
            <a:off x="9710928" y="3694176"/>
            <a:ext cx="1883663" cy="365760"/>
          </a:xfrm>
          <a:prstGeom prst="rect">
            <a:avLst/>
          </a:prstGeom>
          <a:noFill/>
        </p:spPr>
        <p:txBody>
          <a:bodyPr wrap="square" anchor="ctr" lIns="54864" rIns="54864" tIns="27432" bIns="27432">
            <a:noAutofit/>
          </a:bodyPr>
          <a:lstStyle/>
          <a:p>
            <a:pPr algn="ctr">
              <a:lnSpc>
                <a:spcPct val="108000"/>
              </a:lnSpc>
            </a:pPr>
            <a:r>
              <a:rPr sz="2000" b="1">
                <a:solidFill>
                  <a:srgbClr val="1F2328"/>
                </a:solidFill>
                <a:latin typeface="Nanum Gothic"/>
                <a:ea typeface="Nanum Gothic"/>
                <a:cs typeface="Nanum Gothic"/>
              </a:rPr>
              <a:t>CEO Agent</a:t>
            </a:r>
          </a:p>
        </p:txBody>
      </p:sp>
      <p:sp>
        <p:nvSpPr>
          <p:cNvPr id="55" name="T:34:54:tile-purpose-CEO Agent"/>
          <p:cNvSpPr txBox="1"/>
          <p:nvPr/>
        </p:nvSpPr>
        <p:spPr>
          <a:xfrm>
            <a:off x="9710928" y="5559551"/>
            <a:ext cx="1883663" cy="365760"/>
          </a:xfrm>
          <a:prstGeom prst="rect">
            <a:avLst/>
          </a:prstGeom>
          <a:noFill/>
        </p:spPr>
        <p:txBody>
          <a:bodyPr wrap="square" anchor="ctr" lIns="54864" rIns="54864" tIns="27432" bIns="27432">
            <a:noAutofit/>
          </a:bodyPr>
          <a:lstStyle/>
          <a:p>
            <a:pPr algn="ctr">
              <a:lnSpc>
                <a:spcPct val="108000"/>
              </a:lnSpc>
            </a:pPr>
            <a:r>
              <a:rPr sz="2000" b="1">
                <a:solidFill>
                  <a:srgbClr val="1F2328"/>
                </a:solidFill>
                <a:latin typeface="Nanum Gothic"/>
                <a:ea typeface="Nanum Gothic"/>
                <a:cs typeface="Nanum Gothic"/>
              </a:rPr>
              <a:t>근거로 선택</a:t>
            </a:r>
          </a:p>
        </p:txBody>
      </p:sp>
      <p:sp>
        <p:nvSpPr>
          <p:cNvPr id="56" name="N:34:55:조사 근거"/>
          <p:cNvSpPr/>
          <p:nvPr/>
        </p:nvSpPr>
        <p:spPr>
          <a:xfrm>
            <a:off x="9738360" y="4096512"/>
            <a:ext cx="1828800" cy="402336"/>
          </a:xfrm>
          <a:prstGeom prst="roundRect">
            <a:avLst>
              <a:gd name="adj" fmla="val 20454"/>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조사 근거</a:t>
            </a:r>
          </a:p>
        </p:txBody>
      </p:sp>
      <p:sp>
        <p:nvSpPr>
          <p:cNvPr id="57" name="N:34:56:페르소나 명세"/>
          <p:cNvSpPr/>
          <p:nvPr/>
        </p:nvSpPr>
        <p:spPr>
          <a:xfrm>
            <a:off x="9738360" y="4608576"/>
            <a:ext cx="1828800" cy="402336"/>
          </a:xfrm>
          <a:prstGeom prst="roundRect">
            <a:avLst>
              <a:gd name="adj" fmla="val 20454"/>
            </a:avLst>
          </a:prstGeom>
          <a:solidFill>
            <a:srgbClr val="E7EEF8"/>
          </a:solidFill>
          <a:ln w="28575">
            <a:solidFill>
              <a:srgbClr val="2B5FA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페르소나 명세</a:t>
            </a:r>
          </a:p>
        </p:txBody>
      </p:sp>
      <p:sp>
        <p:nvSpPr>
          <p:cNvPr id="58" name="N:34:57:상황별 선택"/>
          <p:cNvSpPr/>
          <p:nvPr/>
        </p:nvSpPr>
        <p:spPr>
          <a:xfrm>
            <a:off x="9738360" y="5120640"/>
            <a:ext cx="1828800" cy="402336"/>
          </a:xfrm>
          <a:prstGeom prst="roundRect">
            <a:avLst>
              <a:gd name="adj" fmla="val 20454"/>
            </a:avLst>
          </a:prstGeom>
          <a:solidFill>
            <a:srgbClr val="FFFFFF"/>
          </a:solidFill>
          <a:ln w="15875">
            <a:solidFill>
              <a:srgbClr val="1F2328"/>
            </a:solidFill>
          </a:ln>
          <a:effectLst/>
        </p:spPr>
        <p:txBody>
          <a:bodyPr rtlCol="0" anchor="ctr" wrap="square" lIns="54864" rIns="54864" tIns="27432" bIns="27432">
            <a:noAutofit/>
          </a:bodyPr>
          <a:lstStyle/>
          <a:p>
            <a:pPr algn="ctr">
              <a:lnSpc>
                <a:spcPct val="108000"/>
              </a:lnSpc>
            </a:pPr>
            <a:r>
              <a:rPr sz="2000" b="0">
                <a:solidFill>
                  <a:srgbClr val="1F2328"/>
                </a:solidFill>
                <a:latin typeface="Nanum Gothic"/>
                <a:ea typeface="Nanum Gothic"/>
                <a:cs typeface="Nanum Gothic"/>
              </a:rPr>
              <a:t>상황별 선택</a:t>
            </a:r>
          </a:p>
        </p:txBody>
      </p:sp>
      <p:cxnSp>
        <p:nvCxnSpPr>
          <p:cNvPr id="59" name="L:34:58:조사 근거-&gt;페르소나 명세"/>
          <p:cNvCxnSpPr>
            <a:stCxn id="56" idx="2"/>
            <a:endCxn id="57" idx="0"/>
          </p:cNvCxnSpPr>
          <p:nvPr/>
        </p:nvCxnSpPr>
        <p:spPr>
          <a:xfrm flipH="1">
            <a:off x="10652760" y="4498848"/>
            <a:ext cx="0" cy="109728"/>
          </a:xfrm>
          <a:prstGeom prst="line">
            <a:avLst/>
          </a:prstGeom>
          <a:ln w="19050">
            <a:solidFill>
              <a:srgbClr val="1F2328"/>
            </a:solidFill>
            <a:tailEnd type="triangle" w="med" len="med"/>
          </a:ln>
        </p:spPr>
      </p:cxnSp>
      <p:cxnSp>
        <p:nvCxnSpPr>
          <p:cNvPr id="60" name="L:34:59:페르소나 명세-&gt;상황별 선택"/>
          <p:cNvCxnSpPr>
            <a:stCxn id="57" idx="2"/>
            <a:endCxn id="58" idx="0"/>
          </p:cNvCxnSpPr>
          <p:nvPr/>
        </p:nvCxnSpPr>
        <p:spPr>
          <a:xfrm flipH="1">
            <a:off x="10652760" y="5010912"/>
            <a:ext cx="0" cy="109728"/>
          </a:xfrm>
          <a:prstGeom prst="line">
            <a:avLst/>
          </a:prstGeom>
          <a:ln w="19050">
            <a:solidFill>
              <a:srgbClr val="1F2328"/>
            </a:solidFill>
            <a:tailEnd type="triangle" w="med" len="med"/>
          </a:ln>
        </p:spPr>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하네스 엔지니어링 워크샵</dc:title>
  <dc:subject/>
  <dc:creator/>
  <cp:keywords/>
  <dc:description>generated using python-pptx</dc:description>
  <cp:lastModifiedBy/>
  <cp:revision>1</cp:revision>
  <dcterms:created xsi:type="dcterms:W3CDTF">2013-01-27T09:14:16Z</dcterms:created>
  <dcterms:modified xsi:type="dcterms:W3CDTF">2013-01-27T09:15:58Z</dcterms:modified>
  <cp:category/>
</cp:coreProperties>
</file>